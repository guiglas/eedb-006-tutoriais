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  <p:sldMasterId id="2147483682" r:id="rId2"/>
  </p:sldMasterIdLst>
  <p:notesMasterIdLst>
    <p:notesMasterId r:id="rId52"/>
  </p:notesMasterIdLst>
  <p:sldIdLst>
    <p:sldId id="256" r:id="rId3"/>
    <p:sldId id="290" r:id="rId4"/>
    <p:sldId id="369" r:id="rId5"/>
    <p:sldId id="370" r:id="rId6"/>
    <p:sldId id="380" r:id="rId7"/>
    <p:sldId id="391" r:id="rId8"/>
    <p:sldId id="371" r:id="rId9"/>
    <p:sldId id="374" r:id="rId10"/>
    <p:sldId id="378" r:id="rId11"/>
    <p:sldId id="379" r:id="rId12"/>
    <p:sldId id="372" r:id="rId13"/>
    <p:sldId id="373" r:id="rId14"/>
    <p:sldId id="375" r:id="rId15"/>
    <p:sldId id="376" r:id="rId16"/>
    <p:sldId id="360" r:id="rId17"/>
    <p:sldId id="390" r:id="rId18"/>
    <p:sldId id="381" r:id="rId19"/>
    <p:sldId id="382" r:id="rId20"/>
    <p:sldId id="384" r:id="rId21"/>
    <p:sldId id="383" r:id="rId22"/>
    <p:sldId id="385" r:id="rId23"/>
    <p:sldId id="392" r:id="rId24"/>
    <p:sldId id="399" r:id="rId25"/>
    <p:sldId id="393" r:id="rId26"/>
    <p:sldId id="394" r:id="rId27"/>
    <p:sldId id="395" r:id="rId28"/>
    <p:sldId id="396" r:id="rId29"/>
    <p:sldId id="397" r:id="rId30"/>
    <p:sldId id="398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410" r:id="rId42"/>
    <p:sldId id="412" r:id="rId43"/>
    <p:sldId id="411" r:id="rId44"/>
    <p:sldId id="413" r:id="rId45"/>
    <p:sldId id="414" r:id="rId46"/>
    <p:sldId id="415" r:id="rId47"/>
    <p:sldId id="416" r:id="rId48"/>
    <p:sldId id="417" r:id="rId49"/>
    <p:sldId id="418" r:id="rId50"/>
    <p:sldId id="419" r:id="rId5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924642F-598C-497A-86C9-3A01B15E8C62}">
          <p14:sldIdLst>
            <p14:sldId id="256"/>
          </p14:sldIdLst>
        </p14:section>
        <p14:section name="Visão Geral" id="{48098578-98F6-483E-9691-A068F8EB5562}">
          <p14:sldIdLst>
            <p14:sldId id="290"/>
            <p14:sldId id="369"/>
            <p14:sldId id="370"/>
            <p14:sldId id="380"/>
            <p14:sldId id="391"/>
            <p14:sldId id="371"/>
            <p14:sldId id="374"/>
            <p14:sldId id="378"/>
            <p14:sldId id="379"/>
            <p14:sldId id="372"/>
            <p14:sldId id="373"/>
            <p14:sldId id="375"/>
            <p14:sldId id="376"/>
            <p14:sldId id="360"/>
            <p14:sldId id="390"/>
            <p14:sldId id="381"/>
            <p14:sldId id="382"/>
            <p14:sldId id="384"/>
            <p14:sldId id="383"/>
            <p14:sldId id="385"/>
            <p14:sldId id="392"/>
            <p14:sldId id="399"/>
            <p14:sldId id="393"/>
            <p14:sldId id="394"/>
            <p14:sldId id="395"/>
            <p14:sldId id="396"/>
            <p14:sldId id="397"/>
            <p14:sldId id="398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2"/>
            <p14:sldId id="411"/>
            <p14:sldId id="413"/>
            <p14:sldId id="414"/>
            <p14:sldId id="415"/>
            <p14:sldId id="416"/>
            <p14:sldId id="417"/>
            <p14:sldId id="418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020D"/>
    <a:srgbClr val="960F68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26" autoAdjust="0"/>
    <p:restoredTop sz="95462" autoAdjust="0"/>
  </p:normalViewPr>
  <p:slideViewPr>
    <p:cSldViewPr>
      <p:cViewPr varScale="1">
        <p:scale>
          <a:sx n="84" d="100"/>
          <a:sy n="84" d="100"/>
        </p:scale>
        <p:origin x="111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808AB-B644-4485-9527-B919905C7BEE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3C4D5-F735-4CA0-B53B-4F87B714F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31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406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75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588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474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36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209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819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126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413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559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18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933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445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660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788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919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214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0918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43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139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878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085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6477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274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138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2508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118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6439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8692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9174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3201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432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0735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26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685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77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9060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4239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7806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0213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3287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7140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9173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4752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9295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6634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2954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259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hutterstock_109844576.jpg"/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698382" y="1446"/>
            <a:ext cx="1445617" cy="6855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shutterstock_45951769.jp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5"/>
          <a:stretch/>
        </p:blipFill>
        <p:spPr>
          <a:xfrm flipH="1">
            <a:off x="6160619" y="6831"/>
            <a:ext cx="1432163" cy="68785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shutterstock_139200059.jpg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620462" y="6830"/>
            <a:ext cx="1432163" cy="684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shutterstock_44239798.jpg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40153" y="1446"/>
            <a:ext cx="1432163" cy="685655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shutterstock_85780294.jpg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20"/>
          <a:stretch/>
        </p:blipFill>
        <p:spPr>
          <a:xfrm flipH="1">
            <a:off x="3107233" y="0"/>
            <a:ext cx="1432163" cy="6885384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shutterstock_42489445.jpg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-3939"/>
            <a:ext cx="1432163" cy="6861939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Shape 11"/>
          <p:cNvSpPr/>
          <p:nvPr userDrawn="1"/>
        </p:nvSpPr>
        <p:spPr>
          <a:xfrm>
            <a:off x="6533765" y="-288478"/>
            <a:ext cx="2769551" cy="276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>
              <a:alpha val="92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6" name="Shape 45"/>
          <p:cNvSpPr/>
          <p:nvPr userDrawn="1"/>
        </p:nvSpPr>
        <p:spPr>
          <a:xfrm>
            <a:off x="8759908" y="1773289"/>
            <a:ext cx="63662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7" name="Shape 46"/>
          <p:cNvSpPr/>
          <p:nvPr userDrawn="1"/>
        </p:nvSpPr>
        <p:spPr>
          <a:xfrm>
            <a:off x="8581630" y="1624716"/>
            <a:ext cx="35655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7" name="Shape 16"/>
          <p:cNvSpPr/>
          <p:nvPr userDrawn="1"/>
        </p:nvSpPr>
        <p:spPr>
          <a:xfrm>
            <a:off x="-25578" y="3102404"/>
            <a:ext cx="7472623" cy="162274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8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9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0" name="Shape 21"/>
          <p:cNvSpPr/>
          <p:nvPr userDrawn="1"/>
        </p:nvSpPr>
        <p:spPr>
          <a:xfrm>
            <a:off x="-25578" y="1263639"/>
            <a:ext cx="3120561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1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17946" y="3573016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62" name="1 Título"/>
          <p:cNvSpPr>
            <a:spLocks noGrp="1"/>
          </p:cNvSpPr>
          <p:nvPr>
            <p:ph type="ctrTitle" hasCustomPrompt="1"/>
          </p:nvPr>
        </p:nvSpPr>
        <p:spPr>
          <a:xfrm>
            <a:off x="317946" y="3284984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  <p:sp>
        <p:nvSpPr>
          <p:cNvPr id="41" name="Shape 37"/>
          <p:cNvSpPr/>
          <p:nvPr/>
        </p:nvSpPr>
        <p:spPr>
          <a:xfrm>
            <a:off x="5131052" y="4713057"/>
            <a:ext cx="988682" cy="87618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2" name="Shape 38"/>
          <p:cNvSpPr/>
          <p:nvPr/>
        </p:nvSpPr>
        <p:spPr>
          <a:xfrm>
            <a:off x="4902443" y="4620717"/>
            <a:ext cx="457219" cy="47926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57084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1"/>
          <p:cNvSpPr/>
          <p:nvPr userDrawn="1"/>
        </p:nvSpPr>
        <p:spPr>
          <a:xfrm>
            <a:off x="0" y="1263639"/>
            <a:ext cx="3084049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4" name="Shape 16"/>
          <p:cNvSpPr/>
          <p:nvPr userDrawn="1"/>
        </p:nvSpPr>
        <p:spPr>
          <a:xfrm>
            <a:off x="-25578" y="2492896"/>
            <a:ext cx="7472623" cy="236745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8" name="Shape 37"/>
          <p:cNvSpPr/>
          <p:nvPr userDrawn="1"/>
        </p:nvSpPr>
        <p:spPr>
          <a:xfrm>
            <a:off x="5131052" y="4713057"/>
            <a:ext cx="1232442" cy="109220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9" name="Shape 38"/>
          <p:cNvSpPr/>
          <p:nvPr userDrawn="1"/>
        </p:nvSpPr>
        <p:spPr>
          <a:xfrm>
            <a:off x="4902443" y="4620717"/>
            <a:ext cx="569947" cy="5974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5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6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6" name="Shape 45"/>
          <p:cNvSpPr/>
          <p:nvPr userDrawn="1"/>
        </p:nvSpPr>
        <p:spPr>
          <a:xfrm>
            <a:off x="7255314" y="5843618"/>
            <a:ext cx="1888686" cy="104130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7" name="Shape 46"/>
          <p:cNvSpPr/>
          <p:nvPr userDrawn="1"/>
        </p:nvSpPr>
        <p:spPr>
          <a:xfrm>
            <a:off x="6841253" y="5517232"/>
            <a:ext cx="1057800" cy="104130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1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17946" y="3356992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23" name="1 Título"/>
          <p:cNvSpPr>
            <a:spLocks noGrp="1"/>
          </p:cNvSpPr>
          <p:nvPr>
            <p:ph type="ctrTitle" hasCustomPrompt="1"/>
          </p:nvPr>
        </p:nvSpPr>
        <p:spPr>
          <a:xfrm>
            <a:off x="317946" y="3068960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475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  <p:pic>
        <p:nvPicPr>
          <p:cNvPr id="18" name="shutterstock_45951769.jpg"/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1296000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68"/>
          <p:cNvSpPr/>
          <p:nvPr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1" name="Shape 69"/>
          <p:cNvSpPr/>
          <p:nvPr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3" name="Shape 71"/>
          <p:cNvSpPr/>
          <p:nvPr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4" name="Shape 72"/>
          <p:cNvSpPr/>
          <p:nvPr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" name="2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25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26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27" name="Shape 75"/>
          <p:cNvSpPr/>
          <p:nvPr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8" name="Shape 76"/>
          <p:cNvSpPr/>
          <p:nvPr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9" name="Shape 77"/>
          <p:cNvSpPr/>
          <p:nvPr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30" name="Shape 78"/>
          <p:cNvSpPr/>
          <p:nvPr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99407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utterstock_85780294.jpg"/>
          <p:cNvPicPr/>
          <p:nvPr userDrawn="1"/>
        </p:nvPicPr>
        <p:blipFill rotWithShape="1">
          <a:blip r:embed="rId2"/>
          <a:srcRect l="34172" r="35058"/>
          <a:stretch/>
        </p:blipFill>
        <p:spPr>
          <a:xfrm flipH="1">
            <a:off x="-1" y="1286522"/>
            <a:ext cx="25380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14468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15"/>
          <p:cNvSpPr/>
          <p:nvPr userDrawn="1"/>
        </p:nvSpPr>
        <p:spPr>
          <a:xfrm>
            <a:off x="-1" y="1"/>
            <a:ext cx="7169921" cy="1052736"/>
          </a:xfrm>
          <a:prstGeom prst="roundRect">
            <a:avLst>
              <a:gd name="adj" fmla="val 739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801612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395536" y="2277343"/>
            <a:ext cx="8280000" cy="432048"/>
          </a:xfrm>
        </p:spPr>
        <p:txBody>
          <a:bodyPr anchor="t">
            <a:normAutofit/>
          </a:bodyPr>
          <a:lstStyle>
            <a:lvl1pPr marL="0" indent="0">
              <a:buNone/>
              <a:defRPr sz="1600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minúscula)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quarter" idx="11" hasCustomPrompt="1"/>
          </p:nvPr>
        </p:nvSpPr>
        <p:spPr>
          <a:xfrm>
            <a:off x="395536" y="2925415"/>
            <a:ext cx="8280920" cy="295185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dirty="0" err="1"/>
              <a:t>Xxxxxxxxx</a:t>
            </a:r>
            <a:r>
              <a:rPr lang="es-ES" dirty="0"/>
              <a:t> </a:t>
            </a:r>
            <a:r>
              <a:rPr lang="es-ES" dirty="0" err="1"/>
              <a:t>xxxxxxxx</a:t>
            </a:r>
            <a:r>
              <a:rPr lang="es-ES" dirty="0"/>
              <a:t> </a:t>
            </a:r>
            <a:r>
              <a:rPr lang="es-ES" dirty="0" err="1"/>
              <a:t>xxxxxxx</a:t>
            </a:r>
            <a:r>
              <a:rPr lang="es-ES" dirty="0"/>
              <a:t>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5780" y="310391"/>
            <a:ext cx="6642483" cy="432000"/>
          </a:xfrm>
        </p:spPr>
        <p:txBody>
          <a:bodyPr anchor="t">
            <a:normAutofit/>
          </a:bodyPr>
          <a:lstStyle>
            <a:lvl1pPr algn="l">
              <a:defRPr sz="1800" b="1" cap="none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18, minúscula, negrita, blanco)</a:t>
            </a:r>
          </a:p>
        </p:txBody>
      </p:sp>
    </p:spTree>
    <p:extLst>
      <p:ext uri="{BB962C8B-B14F-4D97-AF65-F5344CB8AC3E}">
        <p14:creationId xmlns:p14="http://schemas.microsoft.com/office/powerpoint/2010/main" val="163448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55DEA-4530-4101-B362-785BA849EADE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08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7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rgbClr val="50505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arabi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1pPr>
      <a:lvl2pPr marL="857250" indent="-40005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romanU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969696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5050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5050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55DEA-4530-4101-B362-785BA849EADE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436287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rgbClr val="50505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arabi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1pPr>
      <a:lvl2pPr marL="857250" indent="-400050" algn="l" defTabSz="914400" rtl="0" eaLnBrk="1" latinLnBrk="0" hangingPunct="1">
        <a:spcBef>
          <a:spcPct val="20000"/>
        </a:spcBef>
        <a:buClr>
          <a:srgbClr val="960F68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960F68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5050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5050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Com </a:t>
            </a:r>
            <a:r>
              <a:rPr lang="pt-BR" b="1" dirty="0" err="1"/>
              <a:t>DataFrame</a:t>
            </a:r>
            <a:endParaRPr lang="es-ES" dirty="0"/>
          </a:p>
        </p:txBody>
      </p:sp>
      <p:sp>
        <p:nvSpPr>
          <p:cNvPr id="4" name="3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Pyspark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3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" y="1985962"/>
            <a:ext cx="70389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1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2390775"/>
            <a:ext cx="68389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7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Create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1155878" y="1556792"/>
            <a:ext cx="6847266" cy="4654886"/>
            <a:chOff x="1331640" y="1196752"/>
            <a:chExt cx="6847266" cy="4654886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9956" y="3775188"/>
              <a:ext cx="6838950" cy="2076450"/>
            </a:xfrm>
            <a:prstGeom prst="rect">
              <a:avLst/>
            </a:prstGeom>
          </p:spPr>
        </p:pic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1640" y="1196752"/>
              <a:ext cx="6591300" cy="2124075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8010" y="3129706"/>
              <a:ext cx="612457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936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(</a:t>
            </a:r>
            <a:r>
              <a:rPr lang="pt-BR" sz="2200" b="1" dirty="0" err="1">
                <a:solidFill>
                  <a:schemeClr val="bg1"/>
                </a:solidFill>
              </a:rPr>
              <a:t>SQLContext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t="8985"/>
          <a:stretch/>
        </p:blipFill>
        <p:spPr>
          <a:xfrm>
            <a:off x="0" y="2708920"/>
            <a:ext cx="9144000" cy="159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8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(</a:t>
            </a:r>
            <a:r>
              <a:rPr lang="pt-BR" sz="2200" b="1" dirty="0" err="1">
                <a:solidFill>
                  <a:schemeClr val="bg1"/>
                </a:solidFill>
              </a:rPr>
              <a:t>SQLContext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12"/>
            <a:ext cx="9144000" cy="151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9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Load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Fonte:: Documentação Oficial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4521"/>
            <a:ext cx="9144000" cy="266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2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Load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98" y="1988840"/>
            <a:ext cx="62198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6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Create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124744"/>
            <a:ext cx="5760638" cy="523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2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Create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0" y="2238375"/>
            <a:ext cx="521970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6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Sort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" y="1404937"/>
            <a:ext cx="73247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6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Sort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111" y="1916832"/>
            <a:ext cx="6400800" cy="14382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3974441"/>
            <a:ext cx="71437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31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Sort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111" y="1916832"/>
            <a:ext cx="6400800" cy="14382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3974441"/>
            <a:ext cx="71437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4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</a:t>
            </a:r>
            <a:r>
              <a:rPr lang="pt-BR" sz="2200" b="1" dirty="0" err="1">
                <a:solidFill>
                  <a:schemeClr val="bg1"/>
                </a:solidFill>
              </a:rPr>
              <a:t>Schema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244616"/>
            <a:ext cx="64674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2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Ex1: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</a:t>
            </a:r>
            <a:r>
              <a:rPr lang="pt-BR" sz="1800" dirty="0" err="1"/>
              <a:t>dataframe</a:t>
            </a:r>
            <a:r>
              <a:rPr lang="pt-BR" sz="1800" dirty="0"/>
              <a:t> a partir do arquivo dataset_v1.csv, utilizando biblioteca da </a:t>
            </a:r>
            <a:r>
              <a:rPr lang="pt-BR" sz="1800" dirty="0" err="1"/>
              <a:t>Databricks</a:t>
            </a: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Print o </a:t>
            </a:r>
            <a:r>
              <a:rPr lang="pt-BR" sz="1800" dirty="0" err="1"/>
              <a:t>schema</a:t>
            </a:r>
            <a:r>
              <a:rPr lang="pt-BR" sz="1800" dirty="0"/>
              <a:t> deste </a:t>
            </a:r>
            <a:r>
              <a:rPr lang="pt-BR" sz="1800" dirty="0" err="1"/>
              <a:t>dataframe</a:t>
            </a: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novo data frame do arquivo dataset_v2.csv, sendo que você deve passar o </a:t>
            </a:r>
            <a:r>
              <a:rPr lang="pt-BR" sz="1800" dirty="0" err="1"/>
              <a:t>schema</a:t>
            </a:r>
            <a:r>
              <a:rPr lang="pt-BR" sz="1800" dirty="0"/>
              <a:t> explicitamente.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</a:t>
            </a:r>
            <a:r>
              <a:rPr lang="pt-BR" sz="1800" dirty="0" err="1"/>
              <a:t>dataframe</a:t>
            </a:r>
            <a:r>
              <a:rPr lang="pt-BR" sz="1800" dirty="0"/>
              <a:t> a partir do arquivo dataset_v2.csv com base num RDD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20557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SQL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428875"/>
            <a:ext cx="68961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25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- SQL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2281237"/>
            <a:ext cx="39719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Agregações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12" y="1938337"/>
            <a:ext cx="68103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91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Agregações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2000250"/>
            <a:ext cx="69437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19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Agregações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86" y="1484784"/>
            <a:ext cx="6724650" cy="20002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982259"/>
            <a:ext cx="64008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77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Agregações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86" y="1484784"/>
            <a:ext cx="6724650" cy="20002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982259"/>
            <a:ext cx="64008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99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SQL Agregações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86" y="1484784"/>
            <a:ext cx="6724650" cy="20002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982259"/>
            <a:ext cx="64008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06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Ex2: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data frame a partir do arquivo dataset_v1.csv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uma tabela temporária e execute um “</a:t>
            </a:r>
            <a:r>
              <a:rPr lang="pt-BR" sz="1800" dirty="0" err="1"/>
              <a:t>selec</a:t>
            </a:r>
            <a:r>
              <a:rPr lang="pt-BR" sz="1800" dirty="0"/>
              <a:t> * </a:t>
            </a:r>
            <a:r>
              <a:rPr lang="pt-BR" sz="1800" dirty="0" err="1"/>
              <a:t>from</a:t>
            </a:r>
            <a:r>
              <a:rPr lang="pt-BR" sz="1800" dirty="0"/>
              <a:t> </a:t>
            </a:r>
            <a:r>
              <a:rPr lang="pt-BR" sz="1800" dirty="0" err="1"/>
              <a:t>table</a:t>
            </a:r>
            <a:r>
              <a:rPr lang="pt-BR" sz="1800" dirty="0"/>
              <a:t>”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Mostre o resultado do seu </a:t>
            </a:r>
            <a:r>
              <a:rPr lang="pt-BR" sz="1800" dirty="0" err="1"/>
              <a:t>select</a:t>
            </a: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Faça um agrupamento por data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Faça a somatória do campo valor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Mostre os seguintes dados agrupados pelo campo data e </a:t>
            </a:r>
            <a:r>
              <a:rPr lang="pt-BR" sz="1800" dirty="0" err="1"/>
              <a:t>timestamp</a:t>
            </a:r>
            <a:endParaRPr lang="pt-BR" sz="1800" dirty="0"/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Media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Mediana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Quartil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Total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Variância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Desvio Padrão</a:t>
            </a:r>
          </a:p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1800" dirty="0"/>
              <a:t>Faça um </a:t>
            </a:r>
            <a:r>
              <a:rPr lang="pt-BR" sz="1800" dirty="0" err="1"/>
              <a:t>describe</a:t>
            </a:r>
            <a:r>
              <a:rPr lang="pt-BR" sz="1800" dirty="0"/>
              <a:t> pelo campo data e </a:t>
            </a:r>
            <a:r>
              <a:rPr lang="pt-BR" sz="1800" dirty="0" err="1"/>
              <a:t>timestamp</a:t>
            </a: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75767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Colunas e Linhas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224" y="1700808"/>
            <a:ext cx="5184574" cy="357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80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Colunas e Linhas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752725"/>
            <a:ext cx="87630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67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Colunas e Linhas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340768"/>
            <a:ext cx="8651020" cy="273630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/>
          <a:srcRect r="3876"/>
          <a:stretch/>
        </p:blipFill>
        <p:spPr>
          <a:xfrm>
            <a:off x="305780" y="4675447"/>
            <a:ext cx="8730716" cy="179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92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Colunas e Linhas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06" y="2105059"/>
            <a:ext cx="7473810" cy="308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55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Expressões em Colunas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1" y="2204864"/>
            <a:ext cx="5328592" cy="383515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846" y="1500217"/>
            <a:ext cx="60102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35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Transformações em </a:t>
            </a: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700808"/>
            <a:ext cx="61722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41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Select</a:t>
            </a:r>
            <a:r>
              <a:rPr lang="pt-BR" sz="2200" b="1" dirty="0">
                <a:solidFill>
                  <a:schemeClr val="bg1"/>
                </a:solidFill>
              </a:rPr>
              <a:t> &amp; </a:t>
            </a:r>
            <a:r>
              <a:rPr lang="pt-BR" sz="2200" b="1" dirty="0" err="1">
                <a:solidFill>
                  <a:schemeClr val="bg1"/>
                </a:solidFill>
              </a:rPr>
              <a:t>SelectExpr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62" y="2147887"/>
            <a:ext cx="46386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87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Select</a:t>
            </a:r>
            <a:r>
              <a:rPr lang="pt-BR" sz="2200" b="1" dirty="0">
                <a:solidFill>
                  <a:schemeClr val="bg1"/>
                </a:solidFill>
              </a:rPr>
              <a:t> &amp; </a:t>
            </a:r>
            <a:r>
              <a:rPr lang="pt-BR" sz="2200" b="1" dirty="0" err="1">
                <a:solidFill>
                  <a:schemeClr val="bg1"/>
                </a:solidFill>
              </a:rPr>
              <a:t>SelectExpr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2123728" y="1377227"/>
            <a:ext cx="3796762" cy="5208848"/>
            <a:chOff x="1835696" y="1196752"/>
            <a:chExt cx="4268135" cy="6072945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5696" y="1196752"/>
              <a:ext cx="4064891" cy="2909016"/>
            </a:xfrm>
            <a:prstGeom prst="rect">
              <a:avLst/>
            </a:prstGeom>
          </p:spPr>
        </p:pic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5696" y="3789040"/>
              <a:ext cx="4268135" cy="3480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288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Select</a:t>
            </a:r>
            <a:r>
              <a:rPr lang="pt-BR" sz="2200" b="1" dirty="0">
                <a:solidFill>
                  <a:schemeClr val="bg1"/>
                </a:solidFill>
              </a:rPr>
              <a:t> &amp; </a:t>
            </a:r>
            <a:r>
              <a:rPr lang="pt-BR" sz="2200" b="1" dirty="0" err="1">
                <a:solidFill>
                  <a:schemeClr val="bg1"/>
                </a:solidFill>
              </a:rPr>
              <a:t>SelectExpr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2123728" y="1377227"/>
            <a:ext cx="3796762" cy="5208848"/>
            <a:chOff x="1835696" y="1196752"/>
            <a:chExt cx="4268135" cy="6072945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5696" y="1196752"/>
              <a:ext cx="4064891" cy="2909016"/>
            </a:xfrm>
            <a:prstGeom prst="rect">
              <a:avLst/>
            </a:prstGeom>
          </p:spPr>
        </p:pic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5696" y="3789040"/>
              <a:ext cx="4268135" cy="3480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8719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Select</a:t>
            </a:r>
            <a:r>
              <a:rPr lang="pt-BR" sz="2200" b="1" dirty="0">
                <a:solidFill>
                  <a:schemeClr val="bg1"/>
                </a:solidFill>
              </a:rPr>
              <a:t> &amp; </a:t>
            </a:r>
            <a:r>
              <a:rPr lang="pt-BR" sz="2200" b="1" dirty="0" err="1">
                <a:solidFill>
                  <a:schemeClr val="bg1"/>
                </a:solidFill>
              </a:rPr>
              <a:t>SelectExpr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1691680" y="1916832"/>
            <a:ext cx="5506417" cy="3235108"/>
            <a:chOff x="1657871" y="1556792"/>
            <a:chExt cx="6097336" cy="3582282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7871" y="1556792"/>
              <a:ext cx="5843280" cy="2286563"/>
            </a:xfrm>
            <a:prstGeom prst="rect">
              <a:avLst/>
            </a:prstGeom>
          </p:spPr>
        </p:pic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7871" y="3843355"/>
              <a:ext cx="6097336" cy="1295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9722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Select</a:t>
            </a:r>
            <a:r>
              <a:rPr lang="pt-BR" sz="2200" b="1" dirty="0">
                <a:solidFill>
                  <a:schemeClr val="bg1"/>
                </a:solidFill>
              </a:rPr>
              <a:t> &amp; </a:t>
            </a:r>
            <a:r>
              <a:rPr lang="pt-BR" sz="2200" b="1" dirty="0" err="1">
                <a:solidFill>
                  <a:schemeClr val="bg1"/>
                </a:solidFill>
              </a:rPr>
              <a:t>SelectExpr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64" y="1700808"/>
            <a:ext cx="6878694" cy="41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20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Literal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043095"/>
            <a:ext cx="46767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06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Adicionar Colunas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87" y="2052637"/>
            <a:ext cx="59150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60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Renomear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20888"/>
            <a:ext cx="8109965" cy="201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43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Cast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2243137"/>
            <a:ext cx="70580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230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Filtrar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7" y="1738312"/>
            <a:ext cx="61436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4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Distinct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412776"/>
            <a:ext cx="6192690" cy="493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58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Ex3: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</a:t>
            </a:r>
            <a:r>
              <a:rPr lang="pt-BR" sz="1800" dirty="0" err="1"/>
              <a:t>dataframe</a:t>
            </a:r>
            <a:r>
              <a:rPr lang="pt-BR" sz="1800" dirty="0"/>
              <a:t> com base no arquivo dataset_v1.csv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as seguintes colunas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Dia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Mês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Ano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uma coluna com a seguinte informação: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Semestre: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Informe se a data é do primeiro ou segundo semestre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uma coluna chamada “Literal” e insira seu nome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Renomeie essa coluna para  “</a:t>
            </a:r>
            <a:r>
              <a:rPr lang="pt-BR" sz="1800" dirty="0" err="1"/>
              <a:t>meu_nome</a:t>
            </a:r>
            <a:r>
              <a:rPr lang="pt-BR" sz="1800" dirty="0"/>
              <a:t>”</a:t>
            </a:r>
            <a:endParaRPr lang="pt-BR" sz="16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</a:t>
            </a:r>
            <a:r>
              <a:rPr lang="pt-BR" sz="1800" dirty="0" err="1"/>
              <a:t>dataframe</a:t>
            </a:r>
            <a:r>
              <a:rPr lang="pt-BR" sz="1800" dirty="0"/>
              <a:t> apenas com os dados de janeiro</a:t>
            </a:r>
          </a:p>
          <a:p>
            <a:pPr marL="0" lvl="1" indent="0" algn="just">
              <a:spcBef>
                <a:spcPts val="300"/>
              </a:spcBef>
              <a:buNone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549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Union dois </a:t>
            </a:r>
            <a:r>
              <a:rPr lang="pt-BR" sz="2200" b="1" dirty="0" err="1">
                <a:solidFill>
                  <a:schemeClr val="bg1"/>
                </a:solidFill>
              </a:rPr>
              <a:t>DataFrames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901" y="1692500"/>
            <a:ext cx="6489220" cy="388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90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Ordenar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132856"/>
            <a:ext cx="6512028" cy="115212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4047282"/>
            <a:ext cx="6473120" cy="125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415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Join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9427"/>
            <a:ext cx="9144000" cy="17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77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Join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9427"/>
            <a:ext cx="9144000" cy="17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728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Join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2233612"/>
            <a:ext cx="65341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62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Join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The </a:t>
            </a:r>
            <a:r>
              <a:rPr lang="pt-BR" sz="1000" dirty="0" err="1">
                <a:solidFill>
                  <a:srgbClr val="12020D"/>
                </a:solidFill>
              </a:rPr>
              <a:t>Definitive</a:t>
            </a:r>
            <a:r>
              <a:rPr lang="pt-BR" sz="1000" dirty="0">
                <a:solidFill>
                  <a:srgbClr val="12020D"/>
                </a:solidFill>
              </a:rPr>
              <a:t> </a:t>
            </a:r>
            <a:r>
              <a:rPr lang="pt-BR" sz="1000" dirty="0" err="1">
                <a:solidFill>
                  <a:srgbClr val="12020D"/>
                </a:solidFill>
              </a:rPr>
              <a:t>Guide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988840"/>
            <a:ext cx="7399931" cy="270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23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DataFrame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Join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Documentação Oficial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420888"/>
            <a:ext cx="752534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00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Ex4: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único </a:t>
            </a:r>
            <a:r>
              <a:rPr lang="pt-BR" sz="1800" dirty="0" err="1"/>
              <a:t>dataframe</a:t>
            </a:r>
            <a:r>
              <a:rPr lang="pt-BR" sz="1800" dirty="0"/>
              <a:t> com base nos arquivos contidos na pasta “ANO”.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data frame com base no arquivo chamado numbers.csv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Faça a junção dos dois data frames com base na parte inteira do campo </a:t>
            </a:r>
            <a:r>
              <a:rPr lang="pt-BR" sz="1800" dirty="0" err="1"/>
              <a:t>value</a:t>
            </a:r>
            <a:r>
              <a:rPr lang="pt-BR" sz="1800" dirty="0"/>
              <a:t> 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campo chamado Data/Hora </a:t>
            </a:r>
            <a:r>
              <a:rPr lang="pt-BR" sz="1800" dirty="0" err="1"/>
              <a:t>atráves</a:t>
            </a:r>
            <a:r>
              <a:rPr lang="pt-BR" sz="1800" dirty="0"/>
              <a:t> do campo </a:t>
            </a:r>
            <a:r>
              <a:rPr lang="pt-BR" sz="1800" dirty="0" err="1"/>
              <a:t>Timestamp</a:t>
            </a:r>
            <a:r>
              <a:rPr lang="pt-BR" sz="1800" dirty="0"/>
              <a:t> que deve estar no formato (MM-DD-YYYY HH:MM)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uma coluna que contenha o quadrado do campo </a:t>
            </a:r>
            <a:r>
              <a:rPr lang="pt-BR" sz="1800" dirty="0" err="1"/>
              <a:t>value</a:t>
            </a: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064031982"/>
      </p:ext>
    </p:extLst>
  </p:cSld>
  <p:clrMapOvr>
    <a:masterClrMapping/>
  </p:clrMapOvr>
</p:sld>
</file>

<file path=ppt/theme/theme1.xml><?xml version="1.0" encoding="utf-8"?>
<a:theme xmlns:a="http://schemas.openxmlformats.org/drawingml/2006/main" name="People">
  <a:themeElements>
    <a:clrScheme name="everis universidad corporativa">
      <a:dk1>
        <a:srgbClr val="FFFFFF"/>
      </a:dk1>
      <a:lt1>
        <a:srgbClr val="FFFFFF"/>
      </a:lt1>
      <a:dk2>
        <a:srgbClr val="960F68"/>
      </a:dk2>
      <a:lt2>
        <a:srgbClr val="969696"/>
      </a:lt2>
      <a:accent1>
        <a:srgbClr val="960F68"/>
      </a:accent1>
      <a:accent2>
        <a:srgbClr val="969696"/>
      </a:accent2>
      <a:accent3>
        <a:srgbClr val="960F68"/>
      </a:accent3>
      <a:accent4>
        <a:srgbClr val="969696"/>
      </a:accent4>
      <a:accent5>
        <a:srgbClr val="960F68"/>
      </a:accent5>
      <a:accent6>
        <a:srgbClr val="969696"/>
      </a:accent6>
      <a:hlink>
        <a:srgbClr val="960F68"/>
      </a:hlink>
      <a:folHlink>
        <a:srgbClr val="FFFFFF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ople">
  <a:themeElements>
    <a:clrScheme name="everis universidad corporativa">
      <a:dk1>
        <a:srgbClr val="FFFFFF"/>
      </a:dk1>
      <a:lt1>
        <a:srgbClr val="FFFFFF"/>
      </a:lt1>
      <a:dk2>
        <a:srgbClr val="960F68"/>
      </a:dk2>
      <a:lt2>
        <a:srgbClr val="969696"/>
      </a:lt2>
      <a:accent1>
        <a:srgbClr val="960F68"/>
      </a:accent1>
      <a:accent2>
        <a:srgbClr val="969696"/>
      </a:accent2>
      <a:accent3>
        <a:srgbClr val="960F68"/>
      </a:accent3>
      <a:accent4>
        <a:srgbClr val="969696"/>
      </a:accent4>
      <a:accent5>
        <a:srgbClr val="960F68"/>
      </a:accent5>
      <a:accent6>
        <a:srgbClr val="969696"/>
      </a:accent6>
      <a:hlink>
        <a:srgbClr val="960F68"/>
      </a:hlink>
      <a:folHlink>
        <a:srgbClr val="FFFFFF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13272</TotalTime>
  <Words>692</Words>
  <Application>Microsoft Office PowerPoint</Application>
  <PresentationFormat>Apresentação na tela (4:3)</PresentationFormat>
  <Paragraphs>181</Paragraphs>
  <Slides>49</Slides>
  <Notes>48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49</vt:i4>
      </vt:variant>
    </vt:vector>
  </HeadingPairs>
  <TitlesOfParts>
    <vt:vector size="51" baseType="lpstr">
      <vt:lpstr>People</vt:lpstr>
      <vt:lpstr>1_People</vt:lpstr>
      <vt:lpstr>Pyspark</vt:lpstr>
      <vt:lpstr>DataFrame</vt:lpstr>
      <vt:lpstr>DataFrame</vt:lpstr>
      <vt:lpstr>DataFrame - Create</vt:lpstr>
      <vt:lpstr>DataFrame – SQL (SQLContext</vt:lpstr>
      <vt:lpstr>DataFrame – SQL (SQLContext</vt:lpstr>
      <vt:lpstr>DataFrame - Load</vt:lpstr>
      <vt:lpstr>DataFrame - Load</vt:lpstr>
      <vt:lpstr>DataFrame - Create</vt:lpstr>
      <vt:lpstr>DataFrame - Create</vt:lpstr>
      <vt:lpstr>DataFrame - Sort</vt:lpstr>
      <vt:lpstr>DataFrame - Sort</vt:lpstr>
      <vt:lpstr>DataFrame - Sort</vt:lpstr>
      <vt:lpstr>DataFrame - Schema</vt:lpstr>
      <vt:lpstr> Exercícios Ex1:</vt:lpstr>
      <vt:lpstr>DataFrame - SQL</vt:lpstr>
      <vt:lpstr>DataFrame - SQL</vt:lpstr>
      <vt:lpstr>DataFrame – SQL Agregações</vt:lpstr>
      <vt:lpstr>DataFrame – SQL Agregações</vt:lpstr>
      <vt:lpstr>DataFrame – SQL Agregações</vt:lpstr>
      <vt:lpstr>DataFrame – SQL Agregações</vt:lpstr>
      <vt:lpstr>DataFrame – SQL Agregações</vt:lpstr>
      <vt:lpstr> Exercícios Ex2:</vt:lpstr>
      <vt:lpstr>DataFrame – Colunas e Linhas</vt:lpstr>
      <vt:lpstr>DataFrame – Colunas e Linhas</vt:lpstr>
      <vt:lpstr>DataFrame – Colunas e Linhas</vt:lpstr>
      <vt:lpstr>DataFrame – Colunas e Linhas</vt:lpstr>
      <vt:lpstr>DataFrame – Expressões em Colunas</vt:lpstr>
      <vt:lpstr>DataFrame – Transformações em DataFrame</vt:lpstr>
      <vt:lpstr>DataFrame – Select &amp; SelectExpr</vt:lpstr>
      <vt:lpstr>DataFrame – Select &amp; SelectExpr</vt:lpstr>
      <vt:lpstr>DataFrame – Select &amp; SelectExpr</vt:lpstr>
      <vt:lpstr>DataFrame – Select &amp; SelectExpr</vt:lpstr>
      <vt:lpstr>DataFrame – Select &amp; SelectExpr</vt:lpstr>
      <vt:lpstr>DataFrame – Literal</vt:lpstr>
      <vt:lpstr>DataFrame – Adicionar Colunas</vt:lpstr>
      <vt:lpstr>DataFrame – Renomear</vt:lpstr>
      <vt:lpstr>DataFrame – Cast</vt:lpstr>
      <vt:lpstr>DataFrame – Filtrar</vt:lpstr>
      <vt:lpstr>DataFrame – Distinct</vt:lpstr>
      <vt:lpstr> Exercícios Ex3:</vt:lpstr>
      <vt:lpstr>DataFrame – Union dois DataFrames</vt:lpstr>
      <vt:lpstr>DataFrame – Ordenar</vt:lpstr>
      <vt:lpstr>DataFrame – Join</vt:lpstr>
      <vt:lpstr>DataFrame – Join</vt:lpstr>
      <vt:lpstr>DataFrame – Join</vt:lpstr>
      <vt:lpstr>DataFrame – Join</vt:lpstr>
      <vt:lpstr>DataFrame – Join</vt:lpstr>
      <vt:lpstr> Exercícios Ex4:</vt:lpstr>
    </vt:vector>
  </TitlesOfParts>
  <Company>Everis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Capilla Blázquez</dc:creator>
  <cp:lastModifiedBy>Leandro Mendes Ferreira</cp:lastModifiedBy>
  <cp:revision>259</cp:revision>
  <dcterms:created xsi:type="dcterms:W3CDTF">2015-12-09T09:46:48Z</dcterms:created>
  <dcterms:modified xsi:type="dcterms:W3CDTF">2026-05-28T22:45:38Z</dcterms:modified>
</cp:coreProperties>
</file>