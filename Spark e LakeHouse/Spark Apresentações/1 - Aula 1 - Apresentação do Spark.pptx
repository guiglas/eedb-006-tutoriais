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29"/>
  </p:notesMasterIdLst>
  <p:sldIdLst>
    <p:sldId id="256" r:id="rId2"/>
    <p:sldId id="348" r:id="rId3"/>
    <p:sldId id="273" r:id="rId4"/>
    <p:sldId id="274" r:id="rId5"/>
    <p:sldId id="275" r:id="rId6"/>
    <p:sldId id="277" r:id="rId7"/>
    <p:sldId id="278" r:id="rId8"/>
    <p:sldId id="279" r:id="rId9"/>
    <p:sldId id="280" r:id="rId10"/>
    <p:sldId id="281" r:id="rId11"/>
    <p:sldId id="282" r:id="rId12"/>
    <p:sldId id="283" r:id="rId13"/>
    <p:sldId id="284" r:id="rId14"/>
    <p:sldId id="285" r:id="rId15"/>
    <p:sldId id="338" r:id="rId16"/>
    <p:sldId id="353" r:id="rId17"/>
    <p:sldId id="339" r:id="rId18"/>
    <p:sldId id="341" r:id="rId19"/>
    <p:sldId id="343" r:id="rId20"/>
    <p:sldId id="344" r:id="rId21"/>
    <p:sldId id="346" r:id="rId22"/>
    <p:sldId id="345" r:id="rId23"/>
    <p:sldId id="347" r:id="rId24"/>
    <p:sldId id="350" r:id="rId25"/>
    <p:sldId id="349" r:id="rId26"/>
    <p:sldId id="352" r:id="rId27"/>
    <p:sldId id="351" r:id="rId2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0F594D-7A1D-4A9B-81E4-9A777840E906}" v="10" dt="2022-05-25T01:29:11.901"/>
  </p1510:revLst>
</p1510:revInfo>
</file>

<file path=ppt/tableStyles.xml><?xml version="1.0" encoding="utf-8"?>
<a:tblStyleLst xmlns:a="http://schemas.openxmlformats.org/drawingml/2006/main" def="{ED39E536-6F86-42CF-86BB-83FB0C6202A1}">
  <a:tblStyle styleId="{ED39E536-6F86-42CF-86BB-83FB0C6202A1}"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D3EFCDD-3C78-406A-814B-EB6AA2B304AE}"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597"/>
    <p:restoredTop sz="94658"/>
  </p:normalViewPr>
  <p:slideViewPr>
    <p:cSldViewPr snapToGrid="0">
      <p:cViewPr varScale="1">
        <p:scale>
          <a:sx n="128" d="100"/>
          <a:sy n="128" d="100"/>
        </p:scale>
        <p:origin x="1264"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a:t>
            </a:fld>
            <a:endParaRPr lang="pt-BR"/>
          </a:p>
        </p:txBody>
      </p:sp>
    </p:spTree>
    <p:extLst>
      <p:ext uri="{BB962C8B-B14F-4D97-AF65-F5344CB8AC3E}">
        <p14:creationId xmlns:p14="http://schemas.microsoft.com/office/powerpoint/2010/main" val="3317031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cab78c543d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gcab78c543d_0_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cab78c543d_0_1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gcab78c543d_0_1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cab78c543d_0_1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cab78c543d_0_1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cab78c543d_0_1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gcab78c543d_0_1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cab78c543d_0_1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4" name="Google Shape;374;gcab78c543d_0_1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cab78c543d_0_1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1" name="Google Shape;381;gcab78c543d_0_1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cab78c543d_0_1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9" name="Google Shape;389;gcab78c543d_0_1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cab78c543d_0_1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gcab78c543d_0_1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cab78c543d_0_1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gcab78c543d_0_1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cab78c543d_0_1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gcab78c543d_0_1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cab78c543d_0_2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1" name="Google Shape;421;gcab78c543d_0_2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cab78c543d_0_2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9" name="Google Shape;429;gcab78c543d_0_2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15</a:t>
            </a:fld>
            <a:endParaRPr lang="pt-BR"/>
          </a:p>
        </p:txBody>
      </p:sp>
    </p:spTree>
    <p:extLst>
      <p:ext uri="{BB962C8B-B14F-4D97-AF65-F5344CB8AC3E}">
        <p14:creationId xmlns:p14="http://schemas.microsoft.com/office/powerpoint/2010/main" val="2404382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16</a:t>
            </a:fld>
            <a:endParaRPr lang="pt-BR"/>
          </a:p>
        </p:txBody>
      </p:sp>
    </p:spTree>
    <p:extLst>
      <p:ext uri="{BB962C8B-B14F-4D97-AF65-F5344CB8AC3E}">
        <p14:creationId xmlns:p14="http://schemas.microsoft.com/office/powerpoint/2010/main" val="902615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17</a:t>
            </a:fld>
            <a:endParaRPr lang="pt-BR"/>
          </a:p>
        </p:txBody>
      </p:sp>
    </p:spTree>
    <p:extLst>
      <p:ext uri="{BB962C8B-B14F-4D97-AF65-F5344CB8AC3E}">
        <p14:creationId xmlns:p14="http://schemas.microsoft.com/office/powerpoint/2010/main" val="26764064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18</a:t>
            </a:fld>
            <a:endParaRPr lang="pt-BR"/>
          </a:p>
        </p:txBody>
      </p:sp>
    </p:spTree>
    <p:extLst>
      <p:ext uri="{BB962C8B-B14F-4D97-AF65-F5344CB8AC3E}">
        <p14:creationId xmlns:p14="http://schemas.microsoft.com/office/powerpoint/2010/main" val="27167821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19</a:t>
            </a:fld>
            <a:endParaRPr lang="pt-BR"/>
          </a:p>
        </p:txBody>
      </p:sp>
    </p:spTree>
    <p:extLst>
      <p:ext uri="{BB962C8B-B14F-4D97-AF65-F5344CB8AC3E}">
        <p14:creationId xmlns:p14="http://schemas.microsoft.com/office/powerpoint/2010/main" val="71975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20</a:t>
            </a:fld>
            <a:endParaRPr lang="pt-BR"/>
          </a:p>
        </p:txBody>
      </p:sp>
    </p:spTree>
    <p:extLst>
      <p:ext uri="{BB962C8B-B14F-4D97-AF65-F5344CB8AC3E}">
        <p14:creationId xmlns:p14="http://schemas.microsoft.com/office/powerpoint/2010/main" val="3720962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21</a:t>
            </a:fld>
            <a:endParaRPr lang="pt-BR"/>
          </a:p>
        </p:txBody>
      </p:sp>
    </p:spTree>
    <p:extLst>
      <p:ext uri="{BB962C8B-B14F-4D97-AF65-F5344CB8AC3E}">
        <p14:creationId xmlns:p14="http://schemas.microsoft.com/office/powerpoint/2010/main" val="17605355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22</a:t>
            </a:fld>
            <a:endParaRPr lang="pt-BR"/>
          </a:p>
        </p:txBody>
      </p:sp>
    </p:spTree>
    <p:extLst>
      <p:ext uri="{BB962C8B-B14F-4D97-AF65-F5344CB8AC3E}">
        <p14:creationId xmlns:p14="http://schemas.microsoft.com/office/powerpoint/2010/main" val="17564465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23</a:t>
            </a:fld>
            <a:endParaRPr lang="pt-BR"/>
          </a:p>
        </p:txBody>
      </p:sp>
    </p:spTree>
    <p:extLst>
      <p:ext uri="{BB962C8B-B14F-4D97-AF65-F5344CB8AC3E}">
        <p14:creationId xmlns:p14="http://schemas.microsoft.com/office/powerpoint/2010/main" val="41875249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24</a:t>
            </a:fld>
            <a:endParaRPr lang="pt-BR"/>
          </a:p>
        </p:txBody>
      </p:sp>
    </p:spTree>
    <p:extLst>
      <p:ext uri="{BB962C8B-B14F-4D97-AF65-F5344CB8AC3E}">
        <p14:creationId xmlns:p14="http://schemas.microsoft.com/office/powerpoint/2010/main" val="9372886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25</a:t>
            </a:fld>
            <a:endParaRPr lang="pt-BR"/>
          </a:p>
        </p:txBody>
      </p:sp>
    </p:spTree>
    <p:extLst>
      <p:ext uri="{BB962C8B-B14F-4D97-AF65-F5344CB8AC3E}">
        <p14:creationId xmlns:p14="http://schemas.microsoft.com/office/powerpoint/2010/main" val="28983946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26</a:t>
            </a:fld>
            <a:endParaRPr lang="pt-BR"/>
          </a:p>
        </p:txBody>
      </p:sp>
    </p:spTree>
    <p:extLst>
      <p:ext uri="{BB962C8B-B14F-4D97-AF65-F5344CB8AC3E}">
        <p14:creationId xmlns:p14="http://schemas.microsoft.com/office/powerpoint/2010/main" val="9040612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AE3C4D5-F735-4CA0-B53B-4F87B714FF67}" type="slidenum">
              <a:rPr lang="pt-BR" smtClean="0"/>
              <a:t>27</a:t>
            </a:fld>
            <a:endParaRPr lang="pt-BR"/>
          </a:p>
        </p:txBody>
      </p:sp>
    </p:spTree>
    <p:extLst>
      <p:ext uri="{BB962C8B-B14F-4D97-AF65-F5344CB8AC3E}">
        <p14:creationId xmlns:p14="http://schemas.microsoft.com/office/powerpoint/2010/main" val="2849783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abeçalho da Seção" type="secHead">
  <p:cSld name="SECTION_HEADER">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735028" y="2924944"/>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742861" y="4377085"/>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uas Partes de Conteúdo" type="twoObj">
  <p:cSld name="TWO_OBJECTS">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457200" y="26064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4" name="Google Shape;3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ação" type="twoTxTwoObj">
  <p:cSld name="TWO_OBJECTS_WITH_TEXT">
    <p:spTree>
      <p:nvGrpSpPr>
        <p:cNvPr id="1" name="Shape 37"/>
        <p:cNvGrpSpPr/>
        <p:nvPr/>
      </p:nvGrpSpPr>
      <p:grpSpPr>
        <a:xfrm>
          <a:off x="0" y="0"/>
          <a:ext cx="0" cy="0"/>
          <a:chOff x="0" y="0"/>
          <a:chExt cx="0" cy="0"/>
        </a:xfrm>
      </p:grpSpPr>
      <p:sp>
        <p:nvSpPr>
          <p:cNvPr id="38" name="Google Shape;38;p5"/>
          <p:cNvSpPr txBox="1">
            <a:spLocks noGrp="1"/>
          </p:cNvSpPr>
          <p:nvPr>
            <p:ph type="title"/>
          </p:nvPr>
        </p:nvSpPr>
        <p:spPr>
          <a:xfrm>
            <a:off x="457200" y="18864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0" name="Google Shape;40;p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1" name="Google Shape;41;p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2" name="Google Shape;42;p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omente título" type="titleOnly">
  <p:cSld name="TITLE_ONLY">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64291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m branco" type="blank">
  <p:cSld name="BLANK">
    <p:spTree>
      <p:nvGrpSpPr>
        <p:cNvPr id="1" name="Shape 51"/>
        <p:cNvGrpSpPr/>
        <p:nvPr/>
      </p:nvGrpSpPr>
      <p:grpSpPr>
        <a:xfrm>
          <a:off x="0" y="0"/>
          <a:ext cx="0" cy="0"/>
          <a:chOff x="0" y="0"/>
          <a:chExt cx="0" cy="0"/>
        </a:xfrm>
      </p:grpSpPr>
      <p:sp>
        <p:nvSpPr>
          <p:cNvPr id="52" name="Google Shape;5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7"/>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údo com Legenda" type="objTx">
  <p:cSld name="OBJECT_WITH_CAPTION_TEXT">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8" name="Google Shape;58;p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9" name="Google Shape;59;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8"/>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m com Legenda" type="picTx">
  <p:cSld name="PICTURE_WITH_CAPTION_TEXT">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9"/>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5" name="Google Shape;65;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6" name="Google Shape;66;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9"/>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ítulo e texto vertical" type="vertTx">
  <p:cSld name="VERTICAL_TEXT">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457200" y="64291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0"/>
          <p:cNvSpPr txBox="1">
            <a:spLocks noGrp="1"/>
          </p:cNvSpPr>
          <p:nvPr>
            <p:ph type="body" idx="1"/>
          </p:nvPr>
        </p:nvSpPr>
        <p:spPr>
          <a:xfrm rot="5400000">
            <a:off x="2357422" y="-42858"/>
            <a:ext cx="4429156"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e texto verticais" type="vertTitleAndTx">
  <p:cSld name="VERTICAL_TITLE_AND_VERTICAL_TEXT">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1"/>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8" name="Google Shape;78;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sldNum" idx="12"/>
          </p:nvPr>
        </p:nvSpPr>
        <p:spPr>
          <a:xfrm>
            <a:off x="6902896" y="6571719"/>
            <a:ext cx="21336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e conteúdo" type="obj">
  <p:cSld name="Título e conteúdo">
    <p:spTree>
      <p:nvGrpSpPr>
        <p:cNvPr id="1" name="Shape 20"/>
        <p:cNvGrpSpPr/>
        <p:nvPr/>
      </p:nvGrpSpPr>
      <p:grpSpPr>
        <a:xfrm>
          <a:off x="0" y="0"/>
          <a:ext cx="0" cy="0"/>
          <a:chOff x="0" y="0"/>
          <a:chExt cx="0" cy="0"/>
        </a:xfrm>
      </p:grpSpPr>
      <p:sp>
        <p:nvSpPr>
          <p:cNvPr id="21" name="Google Shape;21;p44"/>
          <p:cNvSpPr txBox="1">
            <a:spLocks noGrp="1"/>
          </p:cNvSpPr>
          <p:nvPr>
            <p:ph type="title"/>
          </p:nvPr>
        </p:nvSpPr>
        <p:spPr>
          <a:xfrm>
            <a:off x="467544" y="545196"/>
            <a:ext cx="8219256" cy="651556"/>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3600"/>
              <a:buFont typeface="Calibri"/>
              <a:buNone/>
              <a:defRPr sz="36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44"/>
          <p:cNvSpPr txBox="1">
            <a:spLocks noGrp="1"/>
          </p:cNvSpPr>
          <p:nvPr>
            <p:ph type="body" idx="1"/>
          </p:nvPr>
        </p:nvSpPr>
        <p:spPr>
          <a:xfrm>
            <a:off x="457200" y="1340768"/>
            <a:ext cx="8229600" cy="488908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3" name="Google Shape;23;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4"/>
          <p:cNvSpPr txBox="1">
            <a:spLocks noGrp="1"/>
          </p:cNvSpPr>
          <p:nvPr>
            <p:ph type="sldNum" idx="12"/>
          </p:nvPr>
        </p:nvSpPr>
        <p:spPr>
          <a:xfrm>
            <a:off x="6997906" y="6564337"/>
            <a:ext cx="2133600" cy="365125"/>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1"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pt-BR"/>
              <a:t>‹nº›</a:t>
            </a:fld>
            <a:endParaRPr/>
          </a:p>
        </p:txBody>
      </p:sp>
      <p:sp>
        <p:nvSpPr>
          <p:cNvPr id="26" name="Google Shape;26;p44"/>
          <p:cNvSpPr/>
          <p:nvPr/>
        </p:nvSpPr>
        <p:spPr>
          <a:xfrm>
            <a:off x="0" y="-3991"/>
            <a:ext cx="9144000" cy="265740"/>
          </a:xfrm>
          <a:prstGeom prst="rect">
            <a:avLst/>
          </a:prstGeom>
          <a:solidFill>
            <a:srgbClr val="17365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cxnSp>
        <p:nvCxnSpPr>
          <p:cNvPr id="28" name="Google Shape;28;p44"/>
          <p:cNvCxnSpPr/>
          <p:nvPr/>
        </p:nvCxnSpPr>
        <p:spPr>
          <a:xfrm>
            <a:off x="467544" y="1124744"/>
            <a:ext cx="8219256" cy="0"/>
          </a:xfrm>
          <a:prstGeom prst="straightConnector1">
            <a:avLst/>
          </a:prstGeom>
          <a:noFill/>
          <a:ln w="9525" cap="flat" cmpd="sng">
            <a:solidFill>
              <a:srgbClr val="4A7DBA"/>
            </a:solidFill>
            <a:prstDash val="solid"/>
            <a:round/>
            <a:headEnd type="none" w="sm" len="sm"/>
            <a:tailEnd type="none" w="sm" len="sm"/>
          </a:ln>
        </p:spPr>
      </p:cxnSp>
    </p:spTree>
    <p:extLst>
      <p:ext uri="{BB962C8B-B14F-4D97-AF65-F5344CB8AC3E}">
        <p14:creationId xmlns:p14="http://schemas.microsoft.com/office/powerpoint/2010/main" val="1423196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64291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857364"/>
            <a:ext cx="8229600" cy="4429156"/>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p:nvPr/>
        </p:nvSpPr>
        <p:spPr>
          <a:xfrm>
            <a:off x="0" y="6669360"/>
            <a:ext cx="9144000" cy="196695"/>
          </a:xfrm>
          <a:prstGeom prst="rect">
            <a:avLst/>
          </a:prstGeom>
          <a:solidFill>
            <a:srgbClr val="17365D">
              <a:alpha val="89803"/>
            </a:srgbClr>
          </a:solidFill>
          <a:ln w="25400" cap="flat" cmpd="sng">
            <a:solidFill>
              <a:srgbClr val="17365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hyperlink" Target="https://research.google/pubs/pub62/" TargetMode="Externa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a:off x="323528" y="3573016"/>
            <a:ext cx="8568900" cy="1362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4000"/>
              <a:buFont typeface="Calibri"/>
              <a:buNone/>
            </a:pPr>
            <a:r>
              <a:rPr lang="pt-BR" dirty="0" err="1"/>
              <a:t>Spark</a:t>
            </a:r>
            <a:r>
              <a:rPr lang="pt-BR" dirty="0"/>
              <a:t> for Data </a:t>
            </a:r>
            <a:r>
              <a:rPr lang="pt-BR" dirty="0" err="1"/>
              <a:t>Engineer</a:t>
            </a:r>
            <a:br>
              <a:rPr lang="pt-BR" cap="none" dirty="0">
                <a:latin typeface="Calibri"/>
                <a:ea typeface="Calibri"/>
                <a:cs typeface="Calibri"/>
                <a:sym typeface="Calibri"/>
              </a:rPr>
            </a:br>
            <a:r>
              <a:rPr lang="pt-BR" sz="3200" b="0" cap="none" dirty="0">
                <a:latin typeface="Calibri"/>
                <a:ea typeface="Calibri"/>
                <a:cs typeface="Calibri"/>
                <a:sym typeface="Calibri"/>
              </a:rPr>
              <a:t>Aul</a:t>
            </a:r>
            <a:r>
              <a:rPr lang="pt-BR" sz="3200" b="0" dirty="0"/>
              <a:t>a 1 - Apresentação da Disciplina e Introdução</a:t>
            </a:r>
            <a:endParaRPr sz="3200" b="0" cap="none" dirty="0">
              <a:latin typeface="Calibri"/>
              <a:ea typeface="Calibri"/>
              <a:cs typeface="Calibri"/>
              <a:sym typeface="Calibri"/>
            </a:endParaRPr>
          </a:p>
        </p:txBody>
      </p:sp>
      <p:sp>
        <p:nvSpPr>
          <p:cNvPr id="86" name="Google Shape;86;p12"/>
          <p:cNvSpPr txBox="1">
            <a:spLocks noGrp="1"/>
          </p:cNvSpPr>
          <p:nvPr>
            <p:ph type="body" idx="1"/>
          </p:nvPr>
        </p:nvSpPr>
        <p:spPr>
          <a:xfrm>
            <a:off x="755576" y="5013176"/>
            <a:ext cx="7772400" cy="720080"/>
          </a:xfrm>
          <a:prstGeom prst="rect">
            <a:avLst/>
          </a:prstGeom>
          <a:noFill/>
          <a:ln>
            <a:noFill/>
          </a:ln>
        </p:spPr>
        <p:txBody>
          <a:bodyPr spcFirstLastPara="1" wrap="square" lIns="91425" tIns="45700" rIns="91425" bIns="45700" anchor="ctr" anchorCtr="0">
            <a:noAutofit/>
          </a:bodyPr>
          <a:lstStyle/>
          <a:p>
            <a:pPr marL="0" lvl="0" indent="0" algn="r" rtl="0">
              <a:lnSpc>
                <a:spcPct val="80000"/>
              </a:lnSpc>
              <a:spcBef>
                <a:spcPts val="0"/>
              </a:spcBef>
              <a:spcAft>
                <a:spcPts val="0"/>
              </a:spcAft>
              <a:buClr>
                <a:schemeClr val="dk1"/>
              </a:buClr>
              <a:buSzPts val="2220"/>
              <a:buNone/>
            </a:pPr>
            <a:r>
              <a:rPr lang="pt-BR" sz="2220" b="1" dirty="0">
                <a:solidFill>
                  <a:schemeClr val="dk1"/>
                </a:solidFill>
              </a:rPr>
              <a:t>Leandro Mendes Ferreira</a:t>
            </a:r>
            <a:endParaRPr sz="2220" b="1" dirty="0">
              <a:solidFill>
                <a:schemeClr val="dk1"/>
              </a:solidFill>
            </a:endParaRPr>
          </a:p>
          <a:p>
            <a:pPr marL="0" lvl="0" indent="0" algn="r" rtl="0">
              <a:lnSpc>
                <a:spcPct val="80000"/>
              </a:lnSpc>
              <a:spcBef>
                <a:spcPts val="444"/>
              </a:spcBef>
              <a:spcAft>
                <a:spcPts val="0"/>
              </a:spcAft>
              <a:buClr>
                <a:schemeClr val="dk1"/>
              </a:buClr>
              <a:buSzPts val="2220"/>
              <a:buNone/>
            </a:pPr>
            <a:r>
              <a:rPr lang="pt-BR" sz="2220" b="1" dirty="0" err="1">
                <a:solidFill>
                  <a:schemeClr val="dk1"/>
                </a:solidFill>
              </a:rPr>
              <a:t>leandro.mferreira@usp.br</a:t>
            </a:r>
            <a:endParaRPr sz="2220" dirty="0">
              <a:solidFill>
                <a:schemeClr val="dk1"/>
              </a:solidFill>
            </a:endParaRPr>
          </a:p>
        </p:txBody>
      </p:sp>
      <p:cxnSp>
        <p:nvCxnSpPr>
          <p:cNvPr id="88" name="Google Shape;88;p12"/>
          <p:cNvCxnSpPr/>
          <p:nvPr/>
        </p:nvCxnSpPr>
        <p:spPr>
          <a:xfrm>
            <a:off x="467544" y="5013176"/>
            <a:ext cx="7992888" cy="0"/>
          </a:xfrm>
          <a:prstGeom prst="straightConnector1">
            <a:avLst/>
          </a:prstGeom>
          <a:noFill/>
          <a:ln w="9525" cap="flat" cmpd="sng">
            <a:solidFill>
              <a:srgbClr val="4A7DBA"/>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Processamento</a:t>
            </a:r>
            <a:r>
              <a:rPr lang="es-ES" dirty="0"/>
              <a:t> Paralelo</a:t>
            </a:r>
          </a:p>
        </p:txBody>
      </p:sp>
      <p:sp>
        <p:nvSpPr>
          <p:cNvPr id="4" name="Subtítulo 3"/>
          <p:cNvSpPr>
            <a:spLocks noGrp="1"/>
          </p:cNvSpPr>
          <p:nvPr>
            <p:ph type="body" idx="1"/>
          </p:nvPr>
        </p:nvSpPr>
        <p:spPr/>
        <p:txBody>
          <a:bodyPr>
            <a:normAutofit/>
          </a:bodyPr>
          <a:lstStyle/>
          <a:p>
            <a:pPr marL="342900" lvl="1" indent="-342900" algn="just">
              <a:spcBef>
                <a:spcPts val="300"/>
              </a:spcBef>
              <a:buFont typeface="Arial" panose="020B0604020202020204" pitchFamily="34" charset="0"/>
              <a:buChar char="•"/>
              <a:defRPr/>
            </a:pPr>
            <a:r>
              <a:rPr lang="pt-BR" sz="2200" b="1" dirty="0"/>
              <a:t>Conceitos</a:t>
            </a:r>
          </a:p>
          <a:p>
            <a:pPr marL="342900" lvl="1" indent="-342900" algn="just">
              <a:spcBef>
                <a:spcPts val="300"/>
              </a:spcBef>
              <a:buFont typeface="Arial" panose="020B0604020202020204" pitchFamily="34" charset="0"/>
              <a:buChar char="•"/>
              <a:defRPr/>
            </a:pPr>
            <a:r>
              <a:rPr lang="pt-BR" sz="2200" b="1" dirty="0"/>
              <a:t>MPP</a:t>
            </a:r>
          </a:p>
          <a:p>
            <a:pPr marL="342900" lvl="1" indent="-342900" algn="just">
              <a:spcBef>
                <a:spcPts val="300"/>
              </a:spcBef>
              <a:buFont typeface="Arial" panose="020B0604020202020204" pitchFamily="34" charset="0"/>
              <a:buChar char="•"/>
              <a:defRPr/>
            </a:pPr>
            <a:r>
              <a:rPr lang="pt-BR" sz="2200" b="1" dirty="0" err="1"/>
              <a:t>Hadoop</a:t>
            </a:r>
            <a:endParaRPr lang="pt-BR" sz="2200" b="1" dirty="0"/>
          </a:p>
        </p:txBody>
      </p:sp>
    </p:spTree>
    <p:extLst>
      <p:ext uri="{BB962C8B-B14F-4D97-AF65-F5344CB8AC3E}">
        <p14:creationId xmlns:p14="http://schemas.microsoft.com/office/powerpoint/2010/main" val="3790246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gcab78c543d_0_106"/>
          <p:cNvSpPr/>
          <p:nvPr/>
        </p:nvSpPr>
        <p:spPr>
          <a:xfrm>
            <a:off x="425175" y="2735800"/>
            <a:ext cx="4049400" cy="2957700"/>
          </a:xfrm>
          <a:prstGeom prst="rect">
            <a:avLst/>
          </a:prstGeom>
          <a:solidFill>
            <a:srgbClr val="F3F3F3"/>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gcab78c543d_0_106"/>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MPPs ( Massively Parallel Processors )</a:t>
            </a:r>
            <a:endParaRPr/>
          </a:p>
        </p:txBody>
      </p:sp>
      <p:sp>
        <p:nvSpPr>
          <p:cNvPr id="318" name="Google Shape;318;gcab78c543d_0_106"/>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3</a:t>
            </a:fld>
            <a:endParaRPr/>
          </a:p>
        </p:txBody>
      </p:sp>
      <p:sp>
        <p:nvSpPr>
          <p:cNvPr id="319" name="Google Shape;319;gcab78c543d_0_106"/>
          <p:cNvSpPr/>
          <p:nvPr/>
        </p:nvSpPr>
        <p:spPr>
          <a:xfrm>
            <a:off x="625250" y="3137675"/>
            <a:ext cx="1062900" cy="22971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Arial"/>
                <a:ea typeface="Arial"/>
                <a:cs typeface="Arial"/>
                <a:sym typeface="Arial"/>
              </a:rPr>
              <a:t>NODE 1</a:t>
            </a:r>
            <a:endParaRPr sz="1400" b="0" i="0" u="none" strike="noStrike" cap="none">
              <a:solidFill>
                <a:srgbClr val="000000"/>
              </a:solidFill>
              <a:latin typeface="Arial"/>
              <a:ea typeface="Arial"/>
              <a:cs typeface="Arial"/>
              <a:sym typeface="Arial"/>
            </a:endParaRPr>
          </a:p>
        </p:txBody>
      </p:sp>
      <p:sp>
        <p:nvSpPr>
          <p:cNvPr id="320" name="Google Shape;320;gcab78c543d_0_106"/>
          <p:cNvSpPr/>
          <p:nvPr/>
        </p:nvSpPr>
        <p:spPr>
          <a:xfrm>
            <a:off x="696054" y="4470675"/>
            <a:ext cx="922500" cy="8649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pt-BR" sz="1000" b="0" i="0" u="none" strike="noStrike" cap="none">
                <a:solidFill>
                  <a:srgbClr val="000000"/>
                </a:solidFill>
                <a:latin typeface="Arial"/>
                <a:ea typeface="Arial"/>
                <a:cs typeface="Arial"/>
                <a:sym typeface="Arial"/>
              </a:rPr>
              <a:t>MEMÓRIA</a:t>
            </a:r>
            <a:endParaRPr sz="1000" b="0" i="0" u="none" strike="noStrike" cap="none">
              <a:solidFill>
                <a:srgbClr val="000000"/>
              </a:solidFill>
              <a:latin typeface="Arial"/>
              <a:ea typeface="Arial"/>
              <a:cs typeface="Arial"/>
              <a:sym typeface="Arial"/>
            </a:endParaRPr>
          </a:p>
        </p:txBody>
      </p:sp>
      <p:sp>
        <p:nvSpPr>
          <p:cNvPr id="321" name="Google Shape;321;gcab78c543d_0_106"/>
          <p:cNvSpPr/>
          <p:nvPr/>
        </p:nvSpPr>
        <p:spPr>
          <a:xfrm>
            <a:off x="696054" y="3480075"/>
            <a:ext cx="922500" cy="8649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pt-BR" sz="1000" b="0" i="0" u="none" strike="noStrike" cap="none">
                <a:solidFill>
                  <a:srgbClr val="000000"/>
                </a:solidFill>
                <a:latin typeface="Arial"/>
                <a:ea typeface="Arial"/>
                <a:cs typeface="Arial"/>
                <a:sym typeface="Arial"/>
              </a:rPr>
              <a:t>CPU</a:t>
            </a:r>
            <a:endParaRPr sz="1000" b="0" i="0" u="none" strike="noStrike" cap="none">
              <a:solidFill>
                <a:srgbClr val="000000"/>
              </a:solidFill>
              <a:latin typeface="Arial"/>
              <a:ea typeface="Arial"/>
              <a:cs typeface="Arial"/>
              <a:sym typeface="Arial"/>
            </a:endParaRPr>
          </a:p>
        </p:txBody>
      </p:sp>
      <p:sp>
        <p:nvSpPr>
          <p:cNvPr id="322" name="Google Shape;322;gcab78c543d_0_106"/>
          <p:cNvSpPr/>
          <p:nvPr/>
        </p:nvSpPr>
        <p:spPr>
          <a:xfrm>
            <a:off x="1844450" y="3137675"/>
            <a:ext cx="1062900" cy="22971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Arial"/>
                <a:ea typeface="Arial"/>
                <a:cs typeface="Arial"/>
                <a:sym typeface="Arial"/>
              </a:rPr>
              <a:t>NODE 2</a:t>
            </a:r>
            <a:endParaRPr sz="1400" b="0" i="0" u="none" strike="noStrike" cap="none">
              <a:solidFill>
                <a:srgbClr val="000000"/>
              </a:solidFill>
              <a:latin typeface="Arial"/>
              <a:ea typeface="Arial"/>
              <a:cs typeface="Arial"/>
              <a:sym typeface="Arial"/>
            </a:endParaRPr>
          </a:p>
        </p:txBody>
      </p:sp>
      <p:sp>
        <p:nvSpPr>
          <p:cNvPr id="323" name="Google Shape;323;gcab78c543d_0_106"/>
          <p:cNvSpPr/>
          <p:nvPr/>
        </p:nvSpPr>
        <p:spPr>
          <a:xfrm>
            <a:off x="1915254" y="4470675"/>
            <a:ext cx="922500" cy="8649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pt-BR" sz="1000" b="0" i="0" u="none" strike="noStrike" cap="none">
                <a:solidFill>
                  <a:srgbClr val="000000"/>
                </a:solidFill>
                <a:latin typeface="Arial"/>
                <a:ea typeface="Arial"/>
                <a:cs typeface="Arial"/>
                <a:sym typeface="Arial"/>
              </a:rPr>
              <a:t>MEMÓRIA</a:t>
            </a:r>
            <a:endParaRPr sz="1000" b="0" i="0" u="none" strike="noStrike" cap="none">
              <a:solidFill>
                <a:srgbClr val="000000"/>
              </a:solidFill>
              <a:latin typeface="Arial"/>
              <a:ea typeface="Arial"/>
              <a:cs typeface="Arial"/>
              <a:sym typeface="Arial"/>
            </a:endParaRPr>
          </a:p>
        </p:txBody>
      </p:sp>
      <p:sp>
        <p:nvSpPr>
          <p:cNvPr id="324" name="Google Shape;324;gcab78c543d_0_106"/>
          <p:cNvSpPr/>
          <p:nvPr/>
        </p:nvSpPr>
        <p:spPr>
          <a:xfrm>
            <a:off x="1915254" y="3480075"/>
            <a:ext cx="922500" cy="8649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pt-BR" sz="1000" b="0" i="0" u="none" strike="noStrike" cap="none">
                <a:solidFill>
                  <a:srgbClr val="000000"/>
                </a:solidFill>
                <a:latin typeface="Arial"/>
                <a:ea typeface="Arial"/>
                <a:cs typeface="Arial"/>
                <a:sym typeface="Arial"/>
              </a:rPr>
              <a:t>CPU</a:t>
            </a:r>
            <a:endParaRPr sz="1000" b="0" i="0" u="none" strike="noStrike" cap="none">
              <a:solidFill>
                <a:srgbClr val="000000"/>
              </a:solidFill>
              <a:latin typeface="Arial"/>
              <a:ea typeface="Arial"/>
              <a:cs typeface="Arial"/>
              <a:sym typeface="Arial"/>
            </a:endParaRPr>
          </a:p>
        </p:txBody>
      </p:sp>
      <p:sp>
        <p:nvSpPr>
          <p:cNvPr id="325" name="Google Shape;325;gcab78c543d_0_106"/>
          <p:cNvSpPr/>
          <p:nvPr/>
        </p:nvSpPr>
        <p:spPr>
          <a:xfrm>
            <a:off x="3063650" y="3137675"/>
            <a:ext cx="1062900" cy="22971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pt-BR" sz="1400" b="0" i="0" u="none" strike="noStrike" cap="none">
                <a:solidFill>
                  <a:srgbClr val="000000"/>
                </a:solidFill>
                <a:latin typeface="Arial"/>
                <a:ea typeface="Arial"/>
                <a:cs typeface="Arial"/>
                <a:sym typeface="Arial"/>
              </a:rPr>
              <a:t>NODE 3</a:t>
            </a:r>
            <a:endParaRPr sz="1400" b="0" i="0" u="none" strike="noStrike" cap="none">
              <a:solidFill>
                <a:srgbClr val="000000"/>
              </a:solidFill>
              <a:latin typeface="Arial"/>
              <a:ea typeface="Arial"/>
              <a:cs typeface="Arial"/>
              <a:sym typeface="Arial"/>
            </a:endParaRPr>
          </a:p>
        </p:txBody>
      </p:sp>
      <p:sp>
        <p:nvSpPr>
          <p:cNvPr id="326" name="Google Shape;326;gcab78c543d_0_106"/>
          <p:cNvSpPr/>
          <p:nvPr/>
        </p:nvSpPr>
        <p:spPr>
          <a:xfrm>
            <a:off x="3134454" y="4470675"/>
            <a:ext cx="922500" cy="8649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pt-BR" sz="1000" b="0" i="0" u="none" strike="noStrike" cap="none">
                <a:solidFill>
                  <a:srgbClr val="000000"/>
                </a:solidFill>
                <a:latin typeface="Arial"/>
                <a:ea typeface="Arial"/>
                <a:cs typeface="Arial"/>
                <a:sym typeface="Arial"/>
              </a:rPr>
              <a:t>MEMÓRIA</a:t>
            </a:r>
            <a:endParaRPr sz="1000" b="0" i="0" u="none" strike="noStrike" cap="none">
              <a:solidFill>
                <a:srgbClr val="000000"/>
              </a:solidFill>
              <a:latin typeface="Arial"/>
              <a:ea typeface="Arial"/>
              <a:cs typeface="Arial"/>
              <a:sym typeface="Arial"/>
            </a:endParaRPr>
          </a:p>
        </p:txBody>
      </p:sp>
      <p:sp>
        <p:nvSpPr>
          <p:cNvPr id="327" name="Google Shape;327;gcab78c543d_0_106"/>
          <p:cNvSpPr/>
          <p:nvPr/>
        </p:nvSpPr>
        <p:spPr>
          <a:xfrm>
            <a:off x="3134454" y="3480075"/>
            <a:ext cx="922500" cy="8649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pt-BR" sz="1000" b="0" i="0" u="none" strike="noStrike" cap="none">
                <a:solidFill>
                  <a:srgbClr val="000000"/>
                </a:solidFill>
                <a:latin typeface="Arial"/>
                <a:ea typeface="Arial"/>
                <a:cs typeface="Arial"/>
                <a:sym typeface="Arial"/>
              </a:rPr>
              <a:t>CPU</a:t>
            </a:r>
            <a:endParaRPr sz="1000" b="0" i="0" u="none" strike="noStrike" cap="none">
              <a:solidFill>
                <a:srgbClr val="000000"/>
              </a:solidFill>
              <a:latin typeface="Arial"/>
              <a:ea typeface="Arial"/>
              <a:cs typeface="Arial"/>
              <a:sym typeface="Arial"/>
            </a:endParaRPr>
          </a:p>
        </p:txBody>
      </p:sp>
      <p:cxnSp>
        <p:nvCxnSpPr>
          <p:cNvPr id="328" name="Google Shape;328;gcab78c543d_0_106"/>
          <p:cNvCxnSpPr>
            <a:stCxn id="319" idx="0"/>
            <a:endCxn id="322" idx="0"/>
          </p:cNvCxnSpPr>
          <p:nvPr/>
        </p:nvCxnSpPr>
        <p:spPr>
          <a:xfrm rot="-5400000" flipH="1">
            <a:off x="1766000" y="2528375"/>
            <a:ext cx="600" cy="1219200"/>
          </a:xfrm>
          <a:prstGeom prst="bentConnector3">
            <a:avLst>
              <a:gd name="adj1" fmla="val -39687500"/>
            </a:avLst>
          </a:prstGeom>
          <a:noFill/>
          <a:ln w="9525" cap="flat" cmpd="sng">
            <a:solidFill>
              <a:schemeClr val="dk2"/>
            </a:solidFill>
            <a:prstDash val="solid"/>
            <a:round/>
            <a:headEnd type="none" w="sm" len="sm"/>
            <a:tailEnd type="none" w="sm" len="sm"/>
          </a:ln>
        </p:spPr>
      </p:cxnSp>
      <p:cxnSp>
        <p:nvCxnSpPr>
          <p:cNvPr id="329" name="Google Shape;329;gcab78c543d_0_106"/>
          <p:cNvCxnSpPr>
            <a:stCxn id="319" idx="0"/>
            <a:endCxn id="325" idx="0"/>
          </p:cNvCxnSpPr>
          <p:nvPr/>
        </p:nvCxnSpPr>
        <p:spPr>
          <a:xfrm rot="-5400000" flipH="1">
            <a:off x="2375600" y="1918775"/>
            <a:ext cx="600" cy="2438400"/>
          </a:xfrm>
          <a:prstGeom prst="bentConnector3">
            <a:avLst>
              <a:gd name="adj1" fmla="val -39687500"/>
            </a:avLst>
          </a:prstGeom>
          <a:noFill/>
          <a:ln w="9525" cap="flat" cmpd="sng">
            <a:solidFill>
              <a:schemeClr val="dk2"/>
            </a:solidFill>
            <a:prstDash val="solid"/>
            <a:round/>
            <a:headEnd type="none" w="sm" len="sm"/>
            <a:tailEnd type="none" w="sm" len="sm"/>
          </a:ln>
        </p:spPr>
      </p:cxnSp>
      <p:sp>
        <p:nvSpPr>
          <p:cNvPr id="330" name="Google Shape;330;gcab78c543d_0_106"/>
          <p:cNvSpPr/>
          <p:nvPr/>
        </p:nvSpPr>
        <p:spPr>
          <a:xfrm>
            <a:off x="6478098" y="4427350"/>
            <a:ext cx="1527000" cy="864900"/>
          </a:xfrm>
          <a:prstGeom prst="rect">
            <a:avLst/>
          </a:prstGeom>
          <a:solidFill>
            <a:srgbClr val="CFE2F3"/>
          </a:solidFill>
          <a:ln w="19050" cap="flat" cmpd="sng">
            <a:solidFill>
              <a:srgbClr val="FF0000"/>
            </a:solidFill>
            <a:prstDash val="dash"/>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pt-BR" sz="1000" b="0" i="0" u="none" strike="noStrike" cap="none">
                <a:solidFill>
                  <a:srgbClr val="000000"/>
                </a:solidFill>
                <a:latin typeface="Arial"/>
                <a:ea typeface="Arial"/>
                <a:cs typeface="Arial"/>
                <a:sym typeface="Arial"/>
              </a:rPr>
              <a:t>ESCALONADOR</a:t>
            </a:r>
            <a:endParaRPr sz="1000" b="0" i="0" u="none" strike="noStrike" cap="none">
              <a:solidFill>
                <a:srgbClr val="000000"/>
              </a:solidFill>
              <a:latin typeface="Arial"/>
              <a:ea typeface="Arial"/>
              <a:cs typeface="Arial"/>
              <a:sym typeface="Arial"/>
            </a:endParaRPr>
          </a:p>
        </p:txBody>
      </p:sp>
      <p:cxnSp>
        <p:nvCxnSpPr>
          <p:cNvPr id="331" name="Google Shape;331;gcab78c543d_0_106"/>
          <p:cNvCxnSpPr>
            <a:stCxn id="316" idx="3"/>
            <a:endCxn id="330" idx="0"/>
          </p:cNvCxnSpPr>
          <p:nvPr/>
        </p:nvCxnSpPr>
        <p:spPr>
          <a:xfrm>
            <a:off x="4474575" y="4214650"/>
            <a:ext cx="2766900" cy="212700"/>
          </a:xfrm>
          <a:prstGeom prst="bentConnector2">
            <a:avLst/>
          </a:prstGeom>
          <a:noFill/>
          <a:ln w="9525" cap="flat" cmpd="sng">
            <a:solidFill>
              <a:schemeClr val="dk2"/>
            </a:solidFill>
            <a:prstDash val="solid"/>
            <a:round/>
            <a:headEnd type="none" w="sm" len="sm"/>
            <a:tailEnd type="none" w="sm" len="sm"/>
          </a:ln>
        </p:spPr>
      </p:cxnSp>
      <p:sp>
        <p:nvSpPr>
          <p:cNvPr id="332" name="Google Shape;332;gcab78c543d_0_106"/>
          <p:cNvSpPr/>
          <p:nvPr/>
        </p:nvSpPr>
        <p:spPr>
          <a:xfrm>
            <a:off x="7015112" y="5887525"/>
            <a:ext cx="453000" cy="434400"/>
          </a:xfrm>
          <a:prstGeom prst="smileyFace">
            <a:avLst>
              <a:gd name="adj" fmla="val 4653"/>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3" name="Google Shape;333;gcab78c543d_0_106"/>
          <p:cNvCxnSpPr>
            <a:stCxn id="332" idx="0"/>
            <a:endCxn id="330" idx="2"/>
          </p:cNvCxnSpPr>
          <p:nvPr/>
        </p:nvCxnSpPr>
        <p:spPr>
          <a:xfrm rot="-5400000">
            <a:off x="6944312" y="5589625"/>
            <a:ext cx="595200" cy="600"/>
          </a:xfrm>
          <a:prstGeom prst="bentConnector3">
            <a:avLst>
              <a:gd name="adj1" fmla="val 50006"/>
            </a:avLst>
          </a:prstGeom>
          <a:noFill/>
          <a:ln w="9525" cap="flat" cmpd="sng">
            <a:solidFill>
              <a:schemeClr val="dk2"/>
            </a:solidFill>
            <a:prstDash val="solid"/>
            <a:round/>
            <a:headEnd type="none" w="sm" len="sm"/>
            <a:tailEnd type="none" w="sm" len="sm"/>
          </a:ln>
        </p:spPr>
      </p:cxnSp>
      <p:cxnSp>
        <p:nvCxnSpPr>
          <p:cNvPr id="334" name="Google Shape;334;gcab78c543d_0_106"/>
          <p:cNvCxnSpPr/>
          <p:nvPr/>
        </p:nvCxnSpPr>
        <p:spPr>
          <a:xfrm rot="5400000">
            <a:off x="7542025" y="2689575"/>
            <a:ext cx="1580400" cy="1247700"/>
          </a:xfrm>
          <a:prstGeom prst="curvedConnector3">
            <a:avLst>
              <a:gd name="adj1" fmla="val 50000"/>
            </a:avLst>
          </a:prstGeom>
          <a:noFill/>
          <a:ln w="28575" cap="flat" cmpd="sng">
            <a:solidFill>
              <a:srgbClr val="FF0000"/>
            </a:solidFill>
            <a:prstDash val="solid"/>
            <a:round/>
            <a:headEnd type="none" w="sm" len="sm"/>
            <a:tailEnd type="triangle" w="med" len="med"/>
          </a:ln>
        </p:spPr>
      </p:cxnSp>
      <p:sp>
        <p:nvSpPr>
          <p:cNvPr id="335" name="Google Shape;335;gcab78c543d_0_106"/>
          <p:cNvSpPr/>
          <p:nvPr/>
        </p:nvSpPr>
        <p:spPr>
          <a:xfrm>
            <a:off x="6477187" y="5887525"/>
            <a:ext cx="453000" cy="434400"/>
          </a:xfrm>
          <a:prstGeom prst="smileyFace">
            <a:avLst>
              <a:gd name="adj" fmla="val 4653"/>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6" name="Google Shape;336;gcab78c543d_0_106"/>
          <p:cNvCxnSpPr>
            <a:stCxn id="335" idx="0"/>
            <a:endCxn id="330" idx="2"/>
          </p:cNvCxnSpPr>
          <p:nvPr/>
        </p:nvCxnSpPr>
        <p:spPr>
          <a:xfrm rot="-5400000">
            <a:off x="6675037" y="5320975"/>
            <a:ext cx="595200" cy="537900"/>
          </a:xfrm>
          <a:prstGeom prst="bentConnector3">
            <a:avLst>
              <a:gd name="adj1" fmla="val 50006"/>
            </a:avLst>
          </a:prstGeom>
          <a:noFill/>
          <a:ln w="9525" cap="flat" cmpd="sng">
            <a:solidFill>
              <a:schemeClr val="dk2"/>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cab78c543d_0_128"/>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Hadoop, por onde começar?</a:t>
            </a:r>
            <a:endParaRPr/>
          </a:p>
        </p:txBody>
      </p:sp>
      <p:sp>
        <p:nvSpPr>
          <p:cNvPr id="342" name="Google Shape;342;gcab78c543d_0_128"/>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4</a:t>
            </a:fld>
            <a:endParaRPr/>
          </a:p>
        </p:txBody>
      </p:sp>
      <p:pic>
        <p:nvPicPr>
          <p:cNvPr id="343" name="Google Shape;343;gcab78c543d_0_128"/>
          <p:cNvPicPr preferRelativeResize="0"/>
          <p:nvPr/>
        </p:nvPicPr>
        <p:blipFill rotWithShape="1">
          <a:blip r:embed="rId3">
            <a:alphaModFix/>
          </a:blip>
          <a:srcRect/>
          <a:stretch/>
        </p:blipFill>
        <p:spPr>
          <a:xfrm>
            <a:off x="2620150" y="1196700"/>
            <a:ext cx="3618601" cy="5162075"/>
          </a:xfrm>
          <a:prstGeom prst="rect">
            <a:avLst/>
          </a:prstGeom>
          <a:noFill/>
          <a:ln>
            <a:noFill/>
          </a:ln>
        </p:spPr>
      </p:pic>
      <p:sp>
        <p:nvSpPr>
          <p:cNvPr id="344" name="Google Shape;344;gcab78c543d_0_128"/>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cab78c543d_0_135"/>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O que o Hadoop?</a:t>
            </a:r>
            <a:endParaRPr/>
          </a:p>
        </p:txBody>
      </p:sp>
      <p:sp>
        <p:nvSpPr>
          <p:cNvPr id="350" name="Google Shape;350;gcab78c543d_0_135"/>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5</a:t>
            </a:fld>
            <a:endParaRPr/>
          </a:p>
        </p:txBody>
      </p:sp>
      <p:sp>
        <p:nvSpPr>
          <p:cNvPr id="351" name="Google Shape;351;gcab78c543d_0_135"/>
          <p:cNvSpPr txBox="1"/>
          <p:nvPr/>
        </p:nvSpPr>
        <p:spPr>
          <a:xfrm>
            <a:off x="415925" y="1497275"/>
            <a:ext cx="8271000" cy="1931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pt-BR" sz="2400" b="0" i="0" u="none" strike="noStrike" cap="none">
                <a:solidFill>
                  <a:schemeClr val="dk1"/>
                </a:solidFill>
                <a:latin typeface="Calibri"/>
                <a:ea typeface="Calibri"/>
                <a:cs typeface="Calibri"/>
                <a:sym typeface="Calibri"/>
              </a:rPr>
              <a:t>O Apache Hadoop é uma Framework ou Plataforma desenvolvida em Java, para computação distribuída, usada para processamento de grandes quantidades de informação. Originalmente criado no Yahoo por Doug Cutting fundador da Cloudera. Esse nome foi dado graças ao brinquedo preferido de seu filho!</a:t>
            </a:r>
            <a:endParaRPr sz="1400" b="0" i="0" u="none" strike="noStrike" cap="none">
              <a:solidFill>
                <a:schemeClr val="dk1"/>
              </a:solidFill>
              <a:latin typeface="Arial"/>
              <a:ea typeface="Arial"/>
              <a:cs typeface="Arial"/>
              <a:sym typeface="Arial"/>
            </a:endParaRPr>
          </a:p>
          <a:p>
            <a:pPr marL="45720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pic>
        <p:nvPicPr>
          <p:cNvPr id="352" name="Google Shape;352;gcab78c543d_0_135"/>
          <p:cNvPicPr preferRelativeResize="0"/>
          <p:nvPr/>
        </p:nvPicPr>
        <p:blipFill rotWithShape="1">
          <a:blip r:embed="rId3">
            <a:alphaModFix/>
          </a:blip>
          <a:srcRect/>
          <a:stretch/>
        </p:blipFill>
        <p:spPr>
          <a:xfrm>
            <a:off x="5812250" y="3868163"/>
            <a:ext cx="2809575" cy="2294475"/>
          </a:xfrm>
          <a:prstGeom prst="rect">
            <a:avLst/>
          </a:prstGeom>
          <a:noFill/>
          <a:ln>
            <a:noFill/>
          </a:ln>
        </p:spPr>
      </p:pic>
      <p:pic>
        <p:nvPicPr>
          <p:cNvPr id="353" name="Google Shape;353;gcab78c543d_0_135"/>
          <p:cNvPicPr preferRelativeResize="0"/>
          <p:nvPr/>
        </p:nvPicPr>
        <p:blipFill rotWithShape="1">
          <a:blip r:embed="rId4">
            <a:alphaModFix/>
          </a:blip>
          <a:srcRect/>
          <a:stretch/>
        </p:blipFill>
        <p:spPr>
          <a:xfrm>
            <a:off x="656250" y="4179674"/>
            <a:ext cx="4088600" cy="1982975"/>
          </a:xfrm>
          <a:prstGeom prst="rect">
            <a:avLst/>
          </a:prstGeom>
          <a:noFill/>
          <a:ln>
            <a:noFill/>
          </a:ln>
        </p:spPr>
      </p:pic>
      <p:sp>
        <p:nvSpPr>
          <p:cNvPr id="354" name="Google Shape;354;gcab78c543d_0_135"/>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cab78c543d_0_151"/>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O Ecossistema Hadoop ( Meet Hadoop )</a:t>
            </a:r>
            <a:endParaRPr/>
          </a:p>
        </p:txBody>
      </p:sp>
      <p:sp>
        <p:nvSpPr>
          <p:cNvPr id="368" name="Google Shape;368;gcab78c543d_0_151"/>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6</a:t>
            </a:fld>
            <a:endParaRPr/>
          </a:p>
        </p:txBody>
      </p:sp>
      <p:pic>
        <p:nvPicPr>
          <p:cNvPr id="369" name="Google Shape;369;gcab78c543d_0_151"/>
          <p:cNvPicPr preferRelativeResize="0"/>
          <p:nvPr/>
        </p:nvPicPr>
        <p:blipFill rotWithShape="1">
          <a:blip r:embed="rId3">
            <a:alphaModFix/>
          </a:blip>
          <a:srcRect/>
          <a:stretch/>
        </p:blipFill>
        <p:spPr>
          <a:xfrm>
            <a:off x="152400" y="3178464"/>
            <a:ext cx="8839202" cy="3128309"/>
          </a:xfrm>
          <a:prstGeom prst="rect">
            <a:avLst/>
          </a:prstGeom>
          <a:noFill/>
          <a:ln>
            <a:noFill/>
          </a:ln>
        </p:spPr>
      </p:pic>
      <p:sp>
        <p:nvSpPr>
          <p:cNvPr id="370" name="Google Shape;370;gcab78c543d_0_151"/>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00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GORELIK, A. </a:t>
            </a:r>
            <a:r>
              <a:rPr lang="pt-BR" sz="1200" b="1" i="0" u="none" strike="noStrike" cap="none">
                <a:solidFill>
                  <a:schemeClr val="dk1"/>
                </a:solidFill>
                <a:latin typeface="Calibri"/>
                <a:ea typeface="Calibri"/>
                <a:cs typeface="Calibri"/>
                <a:sym typeface="Calibri"/>
              </a:rPr>
              <a:t>The Enterprise Big Data Lake</a:t>
            </a:r>
            <a:r>
              <a:rPr lang="pt-BR" sz="1200" b="0" i="0" u="none" strike="noStrike" cap="none">
                <a:solidFill>
                  <a:schemeClr val="dk1"/>
                </a:solidFill>
                <a:latin typeface="Calibri"/>
                <a:ea typeface="Calibri"/>
                <a:cs typeface="Calibri"/>
                <a:sym typeface="Calibri"/>
              </a:rPr>
              <a:t>, O’Reilly Media, 2019.</a:t>
            </a:r>
            <a:endParaRPr sz="1400" b="0" i="0" u="none" strike="noStrike" cap="none">
              <a:solidFill>
                <a:srgbClr val="000000"/>
              </a:solidFill>
              <a:latin typeface="Arial"/>
              <a:ea typeface="Arial"/>
              <a:cs typeface="Arial"/>
              <a:sym typeface="Arial"/>
            </a:endParaRPr>
          </a:p>
        </p:txBody>
      </p:sp>
      <p:sp>
        <p:nvSpPr>
          <p:cNvPr id="371" name="Google Shape;371;gcab78c543d_0_151"/>
          <p:cNvSpPr txBox="1"/>
          <p:nvPr/>
        </p:nvSpPr>
        <p:spPr>
          <a:xfrm>
            <a:off x="467700" y="1199675"/>
            <a:ext cx="8219400" cy="19788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333333"/>
              </a:buClr>
              <a:buSzPts val="1200"/>
              <a:buFont typeface="Calibri"/>
              <a:buChar char="●"/>
            </a:pPr>
            <a:r>
              <a:rPr lang="pt-BR" sz="1200" b="1" i="0" u="none" strike="noStrike" cap="none">
                <a:solidFill>
                  <a:srgbClr val="333333"/>
                </a:solidFill>
                <a:highlight>
                  <a:srgbClr val="FFFFFF"/>
                </a:highlight>
                <a:latin typeface="Calibri"/>
                <a:ea typeface="Calibri"/>
                <a:cs typeface="Calibri"/>
                <a:sym typeface="Calibri"/>
              </a:rPr>
              <a:t>Hive</a:t>
            </a:r>
            <a:endParaRPr sz="1200" b="1" i="0" u="none" strike="noStrike" cap="none">
              <a:solidFill>
                <a:srgbClr val="333333"/>
              </a:solidFill>
              <a:highlight>
                <a:srgbClr val="FFFFFF"/>
              </a:highlight>
              <a:latin typeface="Calibri"/>
              <a:ea typeface="Calibri"/>
              <a:cs typeface="Calibri"/>
              <a:sym typeface="Calibri"/>
            </a:endParaRPr>
          </a:p>
          <a:p>
            <a:pPr marL="914400" marR="0" lvl="1" indent="-304800" algn="l" rtl="0">
              <a:lnSpc>
                <a:spcPct val="100000"/>
              </a:lnSpc>
              <a:spcBef>
                <a:spcPts val="0"/>
              </a:spcBef>
              <a:spcAft>
                <a:spcPts val="0"/>
              </a:spcAft>
              <a:buClr>
                <a:srgbClr val="333333"/>
              </a:buClr>
              <a:buSzPts val="1200"/>
              <a:buFont typeface="Calibri"/>
              <a:buChar char="○"/>
            </a:pPr>
            <a:r>
              <a:rPr lang="pt-BR" sz="1200" b="0" i="0" u="none" strike="noStrike" cap="none">
                <a:solidFill>
                  <a:srgbClr val="333333"/>
                </a:solidFill>
                <a:highlight>
                  <a:srgbClr val="FFFFFF"/>
                </a:highlight>
                <a:latin typeface="Calibri"/>
                <a:ea typeface="Calibri"/>
                <a:cs typeface="Calibri"/>
                <a:sym typeface="Calibri"/>
              </a:rPr>
              <a:t>A SQL-like interface to Hadoop files</a:t>
            </a:r>
            <a:endParaRPr sz="1200" b="0" i="0" u="none" strike="noStrike" cap="none">
              <a:solidFill>
                <a:srgbClr val="333333"/>
              </a:solidFill>
              <a:highlight>
                <a:srgbClr val="FFFFFF"/>
              </a:highlight>
              <a:latin typeface="Calibri"/>
              <a:ea typeface="Calibri"/>
              <a:cs typeface="Calibri"/>
              <a:sym typeface="Calibri"/>
            </a:endParaRPr>
          </a:p>
          <a:p>
            <a:pPr marL="457200" marR="0" lvl="0" indent="-304800" algn="l" rtl="0">
              <a:lnSpc>
                <a:spcPct val="100000"/>
              </a:lnSpc>
              <a:spcBef>
                <a:spcPts val="0"/>
              </a:spcBef>
              <a:spcAft>
                <a:spcPts val="0"/>
              </a:spcAft>
              <a:buClr>
                <a:srgbClr val="333333"/>
              </a:buClr>
              <a:buSzPts val="1200"/>
              <a:buFont typeface="Calibri"/>
              <a:buChar char="●"/>
            </a:pPr>
            <a:r>
              <a:rPr lang="pt-BR" sz="1200" b="1" i="0" u="none" strike="noStrike" cap="none">
                <a:solidFill>
                  <a:srgbClr val="333333"/>
                </a:solidFill>
                <a:highlight>
                  <a:srgbClr val="FFFFFF"/>
                </a:highlight>
                <a:latin typeface="Calibri"/>
                <a:ea typeface="Calibri"/>
                <a:cs typeface="Calibri"/>
                <a:sym typeface="Calibri"/>
              </a:rPr>
              <a:t>Spark ( Spark SQL )</a:t>
            </a:r>
            <a:endParaRPr sz="1200" b="1" i="0" u="none" strike="noStrike" cap="none">
              <a:solidFill>
                <a:srgbClr val="333333"/>
              </a:solidFill>
              <a:highlight>
                <a:srgbClr val="FFFFFF"/>
              </a:highlight>
              <a:latin typeface="Calibri"/>
              <a:ea typeface="Calibri"/>
              <a:cs typeface="Calibri"/>
              <a:sym typeface="Calibri"/>
            </a:endParaRPr>
          </a:p>
          <a:p>
            <a:pPr marL="914400" marR="0" lvl="1" indent="-304800" algn="l" rtl="0">
              <a:lnSpc>
                <a:spcPct val="100000"/>
              </a:lnSpc>
              <a:spcBef>
                <a:spcPts val="0"/>
              </a:spcBef>
              <a:spcAft>
                <a:spcPts val="0"/>
              </a:spcAft>
              <a:buClr>
                <a:srgbClr val="333333"/>
              </a:buClr>
              <a:buSzPts val="1200"/>
              <a:buFont typeface="Calibri"/>
              <a:buChar char="○"/>
            </a:pPr>
            <a:r>
              <a:rPr lang="pt-BR" sz="1200" b="0" i="0" u="none" strike="noStrike" cap="none">
                <a:solidFill>
                  <a:srgbClr val="333333"/>
                </a:solidFill>
                <a:highlight>
                  <a:srgbClr val="FFFFFF"/>
                </a:highlight>
                <a:latin typeface="Calibri"/>
                <a:ea typeface="Calibri"/>
                <a:cs typeface="Calibri"/>
                <a:sym typeface="Calibri"/>
              </a:rPr>
              <a:t>An in-memory execution system</a:t>
            </a:r>
            <a:endParaRPr sz="1200" b="0" i="0" u="none" strike="noStrike" cap="none">
              <a:solidFill>
                <a:srgbClr val="333333"/>
              </a:solidFill>
              <a:highlight>
                <a:srgbClr val="FFFFFF"/>
              </a:highlight>
              <a:latin typeface="Calibri"/>
              <a:ea typeface="Calibri"/>
              <a:cs typeface="Calibri"/>
              <a:sym typeface="Calibri"/>
            </a:endParaRPr>
          </a:p>
          <a:p>
            <a:pPr marL="457200" marR="0" lvl="0" indent="-304800" algn="l" rtl="0">
              <a:lnSpc>
                <a:spcPct val="100000"/>
              </a:lnSpc>
              <a:spcBef>
                <a:spcPts val="0"/>
              </a:spcBef>
              <a:spcAft>
                <a:spcPts val="0"/>
              </a:spcAft>
              <a:buClr>
                <a:srgbClr val="333333"/>
              </a:buClr>
              <a:buSzPts val="1200"/>
              <a:buFont typeface="Calibri"/>
              <a:buChar char="●"/>
            </a:pPr>
            <a:r>
              <a:rPr lang="pt-BR" sz="1200" b="1" i="0" u="none" strike="noStrike" cap="none">
                <a:solidFill>
                  <a:srgbClr val="333333"/>
                </a:solidFill>
                <a:highlight>
                  <a:srgbClr val="FFFFFF"/>
                </a:highlight>
                <a:latin typeface="Calibri"/>
                <a:ea typeface="Calibri"/>
                <a:cs typeface="Calibri"/>
                <a:sym typeface="Calibri"/>
              </a:rPr>
              <a:t>Yarn</a:t>
            </a:r>
            <a:endParaRPr sz="1200" b="1" i="0" u="none" strike="noStrike" cap="none">
              <a:solidFill>
                <a:srgbClr val="333333"/>
              </a:solidFill>
              <a:highlight>
                <a:srgbClr val="FFFFFF"/>
              </a:highlight>
              <a:latin typeface="Calibri"/>
              <a:ea typeface="Calibri"/>
              <a:cs typeface="Calibri"/>
              <a:sym typeface="Calibri"/>
            </a:endParaRPr>
          </a:p>
          <a:p>
            <a:pPr marL="914400" marR="0" lvl="1" indent="-304800" algn="l" rtl="0">
              <a:lnSpc>
                <a:spcPct val="100000"/>
              </a:lnSpc>
              <a:spcBef>
                <a:spcPts val="0"/>
              </a:spcBef>
              <a:spcAft>
                <a:spcPts val="0"/>
              </a:spcAft>
              <a:buClr>
                <a:srgbClr val="333333"/>
              </a:buClr>
              <a:buSzPts val="1200"/>
              <a:buFont typeface="Calibri"/>
              <a:buChar char="○"/>
            </a:pPr>
            <a:r>
              <a:rPr lang="pt-BR" sz="1200" b="0" i="0" u="none" strike="noStrike" cap="none">
                <a:solidFill>
                  <a:srgbClr val="333333"/>
                </a:solidFill>
                <a:highlight>
                  <a:srgbClr val="FFFFFF"/>
                </a:highlight>
                <a:latin typeface="Calibri"/>
                <a:ea typeface="Calibri"/>
                <a:cs typeface="Calibri"/>
                <a:sym typeface="Calibri"/>
              </a:rPr>
              <a:t>A distributed resource manager</a:t>
            </a:r>
            <a:endParaRPr sz="1200" b="0" i="0" u="none" strike="noStrike" cap="none">
              <a:solidFill>
                <a:srgbClr val="333333"/>
              </a:solidFill>
              <a:highlight>
                <a:srgbClr val="FFFFFF"/>
              </a:highlight>
              <a:latin typeface="Calibri"/>
              <a:ea typeface="Calibri"/>
              <a:cs typeface="Calibri"/>
              <a:sym typeface="Calibri"/>
            </a:endParaRPr>
          </a:p>
          <a:p>
            <a:pPr marL="457200" marR="0" lvl="0" indent="-304800" algn="l" rtl="0">
              <a:lnSpc>
                <a:spcPct val="100000"/>
              </a:lnSpc>
              <a:spcBef>
                <a:spcPts val="0"/>
              </a:spcBef>
              <a:spcAft>
                <a:spcPts val="0"/>
              </a:spcAft>
              <a:buClr>
                <a:srgbClr val="333333"/>
              </a:buClr>
              <a:buSzPts val="1200"/>
              <a:buFont typeface="Calibri"/>
              <a:buChar char="●"/>
            </a:pPr>
            <a:r>
              <a:rPr lang="pt-BR" sz="1200" b="1" i="0" u="none" strike="noStrike" cap="none">
                <a:solidFill>
                  <a:srgbClr val="333333"/>
                </a:solidFill>
                <a:highlight>
                  <a:srgbClr val="FFFFFF"/>
                </a:highlight>
                <a:latin typeface="Calibri"/>
                <a:ea typeface="Calibri"/>
                <a:cs typeface="Calibri"/>
                <a:sym typeface="Calibri"/>
              </a:rPr>
              <a:t>Oozie</a:t>
            </a:r>
            <a:endParaRPr sz="1200" b="1" i="0" u="none" strike="noStrike" cap="none">
              <a:solidFill>
                <a:srgbClr val="333333"/>
              </a:solidFill>
              <a:highlight>
                <a:srgbClr val="FFFFFF"/>
              </a:highlight>
              <a:latin typeface="Calibri"/>
              <a:ea typeface="Calibri"/>
              <a:cs typeface="Calibri"/>
              <a:sym typeface="Calibri"/>
            </a:endParaRPr>
          </a:p>
          <a:p>
            <a:pPr marL="914400" marR="0" lvl="1" indent="-304800" algn="l" rtl="0">
              <a:lnSpc>
                <a:spcPct val="100000"/>
              </a:lnSpc>
              <a:spcBef>
                <a:spcPts val="0"/>
              </a:spcBef>
              <a:spcAft>
                <a:spcPts val="0"/>
              </a:spcAft>
              <a:buClr>
                <a:srgbClr val="333333"/>
              </a:buClr>
              <a:buSzPts val="1200"/>
              <a:buFont typeface="Calibri"/>
              <a:buChar char="○"/>
            </a:pPr>
            <a:r>
              <a:rPr lang="pt-BR" sz="1200" b="0" i="0" u="none" strike="noStrike" cap="none">
                <a:solidFill>
                  <a:srgbClr val="333333"/>
                </a:solidFill>
                <a:highlight>
                  <a:srgbClr val="FFFFFF"/>
                </a:highlight>
                <a:latin typeface="Calibri"/>
                <a:ea typeface="Calibri"/>
                <a:cs typeface="Calibri"/>
                <a:sym typeface="Calibri"/>
              </a:rPr>
              <a:t>A workflow system</a:t>
            </a:r>
            <a:endParaRPr sz="1200" b="0" i="0" u="none" strike="noStrike" cap="none">
              <a:solidFill>
                <a:srgbClr val="333333"/>
              </a:solidFill>
              <a:highlight>
                <a:srgbClr val="FFFFFF"/>
              </a:highlight>
              <a:latin typeface="Calibri"/>
              <a:ea typeface="Calibri"/>
              <a:cs typeface="Calibri"/>
              <a:sym typeface="Calibri"/>
            </a:endParaRPr>
          </a:p>
          <a:p>
            <a:pPr marL="457200" marR="0" lvl="0" indent="-304800" algn="l" rtl="0">
              <a:lnSpc>
                <a:spcPct val="100000"/>
              </a:lnSpc>
              <a:spcBef>
                <a:spcPts val="0"/>
              </a:spcBef>
              <a:spcAft>
                <a:spcPts val="0"/>
              </a:spcAft>
              <a:buClr>
                <a:srgbClr val="333333"/>
              </a:buClr>
              <a:buSzPts val="1200"/>
              <a:buFont typeface="Calibri"/>
              <a:buChar char="●"/>
            </a:pPr>
            <a:r>
              <a:rPr lang="pt-BR" sz="1200" b="1" i="0" u="none" strike="noStrike" cap="none">
                <a:solidFill>
                  <a:srgbClr val="333333"/>
                </a:solidFill>
                <a:highlight>
                  <a:srgbClr val="FFFFFF"/>
                </a:highlight>
                <a:latin typeface="Calibri"/>
                <a:ea typeface="Calibri"/>
                <a:cs typeface="Calibri"/>
                <a:sym typeface="Calibri"/>
              </a:rPr>
              <a:t>HBase</a:t>
            </a:r>
            <a:endParaRPr sz="1200" b="1" i="0" u="none" strike="noStrike" cap="none">
              <a:solidFill>
                <a:srgbClr val="333333"/>
              </a:solidFill>
              <a:highlight>
                <a:srgbClr val="FFFFFF"/>
              </a:highlight>
              <a:latin typeface="Calibri"/>
              <a:ea typeface="Calibri"/>
              <a:cs typeface="Calibri"/>
              <a:sym typeface="Calibri"/>
            </a:endParaRPr>
          </a:p>
          <a:p>
            <a:pPr marL="914400" marR="0" lvl="1" indent="-304800" algn="l" rtl="0">
              <a:lnSpc>
                <a:spcPct val="100000"/>
              </a:lnSpc>
              <a:spcBef>
                <a:spcPts val="0"/>
              </a:spcBef>
              <a:spcAft>
                <a:spcPts val="0"/>
              </a:spcAft>
              <a:buClr>
                <a:srgbClr val="333333"/>
              </a:buClr>
              <a:buSzPts val="1200"/>
              <a:buFont typeface="Calibri"/>
              <a:buChar char="○"/>
            </a:pPr>
            <a:r>
              <a:rPr lang="pt-BR" sz="1200" b="0" i="0" u="none" strike="noStrike" cap="none">
                <a:solidFill>
                  <a:srgbClr val="333333"/>
                </a:solidFill>
                <a:highlight>
                  <a:srgbClr val="FFFFFF"/>
                </a:highlight>
                <a:latin typeface="Calibri"/>
                <a:ea typeface="Calibri"/>
                <a:cs typeface="Calibri"/>
                <a:sym typeface="Calibri"/>
              </a:rPr>
              <a:t>A NoSQL Database</a:t>
            </a:r>
            <a:endParaRPr sz="1200" b="0" i="0" u="none" strike="noStrike" cap="none">
              <a:solidFill>
                <a:srgbClr val="333333"/>
              </a:solidFill>
              <a:highlight>
                <a:srgbClr val="FFFFFF"/>
              </a:highlight>
              <a:latin typeface="Calibri"/>
              <a:ea typeface="Calibri"/>
              <a:cs typeface="Calibri"/>
              <a:sym typeface="Calibri"/>
            </a:endParaRPr>
          </a:p>
          <a:p>
            <a:pPr marL="0" marR="0" lvl="0" indent="0" algn="l" rtl="0">
              <a:lnSpc>
                <a:spcPct val="100000"/>
              </a:lnSpc>
              <a:spcBef>
                <a:spcPts val="0"/>
              </a:spcBef>
              <a:spcAft>
                <a:spcPts val="400"/>
              </a:spcAft>
              <a:buClr>
                <a:srgbClr val="000000"/>
              </a:buClr>
              <a:buSzPts val="1200"/>
              <a:buFont typeface="Arial"/>
              <a:buNone/>
            </a:pPr>
            <a:endParaRPr sz="1200" b="0" i="0" u="none" strike="noStrike" cap="none">
              <a:solidFill>
                <a:srgbClr val="333333"/>
              </a:solidFill>
              <a:highlight>
                <a:srgbClr val="FFFFFF"/>
              </a:highlight>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gcab78c543d_0_159"/>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O que é o MapReduce?</a:t>
            </a:r>
            <a:endParaRPr/>
          </a:p>
        </p:txBody>
      </p:sp>
      <p:sp>
        <p:nvSpPr>
          <p:cNvPr id="377" name="Google Shape;377;gcab78c543d_0_159"/>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7</a:t>
            </a:fld>
            <a:endParaRPr/>
          </a:p>
        </p:txBody>
      </p:sp>
      <p:sp>
        <p:nvSpPr>
          <p:cNvPr id="378" name="Google Shape;378;gcab78c543d_0_159"/>
          <p:cNvSpPr txBox="1"/>
          <p:nvPr/>
        </p:nvSpPr>
        <p:spPr>
          <a:xfrm>
            <a:off x="415925" y="1497275"/>
            <a:ext cx="8271000" cy="4464300"/>
          </a:xfrm>
          <a:prstGeom prst="rect">
            <a:avLst/>
          </a:prstGeom>
          <a:noFill/>
          <a:ln>
            <a:noFill/>
          </a:ln>
        </p:spPr>
        <p:txBody>
          <a:bodyPr spcFirstLastPara="1" wrap="square" lIns="91425" tIns="91425" rIns="91425" bIns="91425" anchor="t" anchorCtr="0">
            <a:noAutofit/>
          </a:bodyPr>
          <a:lstStyle/>
          <a:p>
            <a:pPr marL="457200" marR="0" lvl="0" indent="-381000" algn="l" rtl="0">
              <a:lnSpc>
                <a:spcPct val="100000"/>
              </a:lnSpc>
              <a:spcBef>
                <a:spcPts val="0"/>
              </a:spcBef>
              <a:spcAft>
                <a:spcPts val="0"/>
              </a:spcAft>
              <a:buClr>
                <a:schemeClr val="dk1"/>
              </a:buClr>
              <a:buSzPts val="2400"/>
              <a:buFont typeface="Arial"/>
              <a:buChar char="●"/>
            </a:pPr>
            <a:r>
              <a:rPr lang="pt-BR" sz="2400" b="0" i="0" u="none" strike="noStrike" cap="none">
                <a:solidFill>
                  <a:schemeClr val="dk1"/>
                </a:solidFill>
                <a:latin typeface="Calibri"/>
                <a:ea typeface="Calibri"/>
                <a:cs typeface="Calibri"/>
                <a:sym typeface="Calibri"/>
              </a:rPr>
              <a:t>MapReduce é o algoritmo de chave que o Hadoop MapReduce engine usa para distribuir o trabalho no cluster; </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a:p>
            <a:pPr marL="457200" marR="0" lvl="0" indent="-381000" algn="l" rtl="0">
              <a:lnSpc>
                <a:spcPct val="100000"/>
              </a:lnSpc>
              <a:spcBef>
                <a:spcPts val="0"/>
              </a:spcBef>
              <a:spcAft>
                <a:spcPts val="0"/>
              </a:spcAft>
              <a:buClr>
                <a:schemeClr val="dk1"/>
              </a:buClr>
              <a:buSzPts val="2400"/>
              <a:buFont typeface="Arial"/>
              <a:buChar char="●"/>
            </a:pPr>
            <a:r>
              <a:rPr lang="pt-BR" sz="2400" b="0" i="0" u="none" strike="noStrike" cap="none">
                <a:solidFill>
                  <a:schemeClr val="dk1"/>
                </a:solidFill>
                <a:latin typeface="Calibri"/>
                <a:ea typeface="Calibri"/>
                <a:cs typeface="Calibri"/>
                <a:sym typeface="Calibri"/>
              </a:rPr>
              <a:t>É um framework introduzido pelo Google para suportar computações </a:t>
            </a:r>
            <a:r>
              <a:rPr lang="pt-BR" sz="2400" b="1" i="0" u="none" strike="noStrike" cap="none">
                <a:solidFill>
                  <a:schemeClr val="dk1"/>
                </a:solidFill>
                <a:latin typeface="Calibri"/>
                <a:ea typeface="Calibri"/>
                <a:cs typeface="Calibri"/>
                <a:sym typeface="Calibri"/>
              </a:rPr>
              <a:t>paralelas</a:t>
            </a:r>
            <a:r>
              <a:rPr lang="pt-BR" sz="2400" b="0" i="0" u="none" strike="noStrike" cap="none">
                <a:solidFill>
                  <a:schemeClr val="dk1"/>
                </a:solidFill>
                <a:latin typeface="Calibri"/>
                <a:ea typeface="Calibri"/>
                <a:cs typeface="Calibri"/>
                <a:sym typeface="Calibri"/>
              </a:rPr>
              <a:t>; ( Escrito em 2004 )</a:t>
            </a:r>
            <a:endParaRPr sz="2400" b="0" i="0" u="none" strike="noStrike" cap="none">
              <a:solidFill>
                <a:schemeClr val="dk1"/>
              </a:solidFill>
              <a:latin typeface="Calibri"/>
              <a:ea typeface="Calibri"/>
              <a:cs typeface="Calibri"/>
              <a:sym typeface="Calibri"/>
            </a:endParaRPr>
          </a:p>
          <a:p>
            <a:pPr marL="914400" marR="0" lvl="1" indent="-381000" algn="l" rtl="0">
              <a:lnSpc>
                <a:spcPct val="100000"/>
              </a:lnSpc>
              <a:spcBef>
                <a:spcPts val="0"/>
              </a:spcBef>
              <a:spcAft>
                <a:spcPts val="0"/>
              </a:spcAft>
              <a:buClr>
                <a:schemeClr val="dk1"/>
              </a:buClr>
              <a:buSzPts val="2400"/>
              <a:buFont typeface="Arial"/>
              <a:buChar char="○"/>
            </a:pPr>
            <a:r>
              <a:rPr lang="pt-BR" sz="1400" b="0" i="0" u="sng" strike="noStrike" cap="none">
                <a:solidFill>
                  <a:schemeClr val="hlink"/>
                </a:solidFill>
                <a:latin typeface="Arial"/>
                <a:ea typeface="Arial"/>
                <a:cs typeface="Arial"/>
                <a:sym typeface="Arial"/>
                <a:hlinkClick r:id="rId3"/>
              </a:rPr>
              <a:t>https://research.google/pubs/pub62/</a:t>
            </a:r>
            <a:br>
              <a:rPr lang="pt-BR" sz="2400" b="0" i="0" u="none" strike="noStrike" cap="none">
                <a:solidFill>
                  <a:schemeClr val="dk1"/>
                </a:solidFill>
                <a:latin typeface="Calibri"/>
                <a:ea typeface="Calibri"/>
                <a:cs typeface="Calibri"/>
                <a:sym typeface="Calibri"/>
              </a:rPr>
            </a:br>
            <a:endParaRPr sz="2400" b="0" i="0" u="none" strike="noStrike" cap="none">
              <a:solidFill>
                <a:schemeClr val="dk1"/>
              </a:solidFill>
              <a:latin typeface="Calibri"/>
              <a:ea typeface="Calibri"/>
              <a:cs typeface="Calibri"/>
              <a:sym typeface="Calibri"/>
            </a:endParaRPr>
          </a:p>
          <a:p>
            <a:pPr marL="457200" marR="0" lvl="0" indent="-381000" algn="l" rtl="0">
              <a:lnSpc>
                <a:spcPct val="100000"/>
              </a:lnSpc>
              <a:spcBef>
                <a:spcPts val="0"/>
              </a:spcBef>
              <a:spcAft>
                <a:spcPts val="0"/>
              </a:spcAft>
              <a:buClr>
                <a:schemeClr val="dk1"/>
              </a:buClr>
              <a:buSzPts val="2400"/>
              <a:buFont typeface="Arial"/>
              <a:buChar char="●"/>
            </a:pPr>
            <a:r>
              <a:rPr lang="pt-BR" sz="2400" b="0" i="0" u="none" strike="noStrike" cap="none">
                <a:solidFill>
                  <a:schemeClr val="dk1"/>
                </a:solidFill>
                <a:latin typeface="Calibri"/>
                <a:ea typeface="Calibri"/>
                <a:cs typeface="Calibri"/>
                <a:sym typeface="Calibri"/>
              </a:rPr>
              <a:t>Permite que programadores </a:t>
            </a:r>
            <a:r>
              <a:rPr lang="pt-BR" sz="2400" b="1" i="0" u="none" strike="noStrike" cap="none">
                <a:solidFill>
                  <a:schemeClr val="dk1"/>
                </a:solidFill>
                <a:latin typeface="Calibri"/>
                <a:ea typeface="Calibri"/>
                <a:cs typeface="Calibri"/>
                <a:sym typeface="Calibri"/>
              </a:rPr>
              <a:t>sem experiência com sistemas paralelos</a:t>
            </a:r>
            <a:r>
              <a:rPr lang="pt-BR" sz="2400" b="0" i="0" u="none" strike="noStrike" cap="none">
                <a:solidFill>
                  <a:schemeClr val="dk1"/>
                </a:solidFill>
                <a:latin typeface="Calibri"/>
                <a:ea typeface="Calibri"/>
                <a:cs typeface="Calibri"/>
                <a:sym typeface="Calibri"/>
              </a:rPr>
              <a:t> e distribuídos facilmente utilizem os recursos de um grande sistema distribuído;</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gcab78c543d_0_165"/>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O que é o MapReduce?</a:t>
            </a:r>
            <a:endParaRPr/>
          </a:p>
        </p:txBody>
      </p:sp>
      <p:sp>
        <p:nvSpPr>
          <p:cNvPr id="384" name="Google Shape;384;gcab78c543d_0_165"/>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8</a:t>
            </a:fld>
            <a:endParaRPr/>
          </a:p>
        </p:txBody>
      </p:sp>
      <p:sp>
        <p:nvSpPr>
          <p:cNvPr id="385" name="Google Shape;385;gcab78c543d_0_165"/>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pic>
        <p:nvPicPr>
          <p:cNvPr id="386" name="Google Shape;386;gcab78c543d_0_165"/>
          <p:cNvPicPr preferRelativeResize="0"/>
          <p:nvPr/>
        </p:nvPicPr>
        <p:blipFill rotWithShape="1">
          <a:blip r:embed="rId3">
            <a:alphaModFix/>
          </a:blip>
          <a:srcRect/>
          <a:stretch/>
        </p:blipFill>
        <p:spPr>
          <a:xfrm>
            <a:off x="59975" y="2781702"/>
            <a:ext cx="8839200" cy="1697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cab78c543d_0_172"/>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O que é o MapReduce?</a:t>
            </a:r>
            <a:endParaRPr/>
          </a:p>
        </p:txBody>
      </p:sp>
      <p:sp>
        <p:nvSpPr>
          <p:cNvPr id="392" name="Google Shape;392;gcab78c543d_0_172"/>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9</a:t>
            </a:fld>
            <a:endParaRPr/>
          </a:p>
        </p:txBody>
      </p:sp>
      <p:sp>
        <p:nvSpPr>
          <p:cNvPr id="393" name="Google Shape;393;gcab78c543d_0_172"/>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00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GORELIK, A. </a:t>
            </a:r>
            <a:r>
              <a:rPr lang="pt-BR" sz="1200" b="1" i="0" u="none" strike="noStrike" cap="none">
                <a:solidFill>
                  <a:schemeClr val="dk1"/>
                </a:solidFill>
                <a:latin typeface="Calibri"/>
                <a:ea typeface="Calibri"/>
                <a:cs typeface="Calibri"/>
                <a:sym typeface="Calibri"/>
              </a:rPr>
              <a:t>The Enterprise Big Data Lake</a:t>
            </a:r>
            <a:r>
              <a:rPr lang="pt-BR" sz="1200" b="0" i="0" u="none" strike="noStrike" cap="none">
                <a:solidFill>
                  <a:schemeClr val="dk1"/>
                </a:solidFill>
                <a:latin typeface="Calibri"/>
                <a:ea typeface="Calibri"/>
                <a:cs typeface="Calibri"/>
                <a:sym typeface="Calibri"/>
              </a:rPr>
              <a:t>, O’Reilly Media, 2019.</a:t>
            </a:r>
            <a:endParaRPr sz="1400" b="0" i="0" u="none" strike="noStrike" cap="none">
              <a:solidFill>
                <a:srgbClr val="000000"/>
              </a:solidFill>
              <a:latin typeface="Arial"/>
              <a:ea typeface="Arial"/>
              <a:cs typeface="Arial"/>
              <a:sym typeface="Arial"/>
            </a:endParaRPr>
          </a:p>
        </p:txBody>
      </p:sp>
      <p:pic>
        <p:nvPicPr>
          <p:cNvPr id="394" name="Google Shape;394;gcab78c543d_0_172"/>
          <p:cNvPicPr preferRelativeResize="0"/>
          <p:nvPr/>
        </p:nvPicPr>
        <p:blipFill rotWithShape="1">
          <a:blip r:embed="rId3">
            <a:alphaModFix/>
          </a:blip>
          <a:srcRect/>
          <a:stretch/>
        </p:blipFill>
        <p:spPr>
          <a:xfrm>
            <a:off x="1464825" y="1265927"/>
            <a:ext cx="6398686" cy="47742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cab78c543d_0_179"/>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O que é o MapReduce?</a:t>
            </a:r>
            <a:endParaRPr/>
          </a:p>
        </p:txBody>
      </p:sp>
      <p:sp>
        <p:nvSpPr>
          <p:cNvPr id="400" name="Google Shape;400;gcab78c543d_0_179"/>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10</a:t>
            </a:fld>
            <a:endParaRPr/>
          </a:p>
        </p:txBody>
      </p:sp>
      <p:pic>
        <p:nvPicPr>
          <p:cNvPr id="401" name="Google Shape;401;gcab78c543d_0_179"/>
          <p:cNvPicPr preferRelativeResize="0"/>
          <p:nvPr/>
        </p:nvPicPr>
        <p:blipFill rotWithShape="1">
          <a:blip r:embed="rId3">
            <a:alphaModFix/>
          </a:blip>
          <a:srcRect/>
          <a:stretch/>
        </p:blipFill>
        <p:spPr>
          <a:xfrm>
            <a:off x="152400" y="1543177"/>
            <a:ext cx="8839200" cy="3951122"/>
          </a:xfrm>
          <a:prstGeom prst="rect">
            <a:avLst/>
          </a:prstGeom>
          <a:noFill/>
          <a:ln>
            <a:noFill/>
          </a:ln>
        </p:spPr>
      </p:pic>
      <p:sp>
        <p:nvSpPr>
          <p:cNvPr id="402" name="Google Shape;402;gcab78c543d_0_179"/>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gcab78c543d_0_186"/>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O que é o MapReduce?</a:t>
            </a:r>
            <a:endParaRPr/>
          </a:p>
        </p:txBody>
      </p:sp>
      <p:sp>
        <p:nvSpPr>
          <p:cNvPr id="408" name="Google Shape;408;gcab78c543d_0_186"/>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11</a:t>
            </a:fld>
            <a:endParaRPr/>
          </a:p>
        </p:txBody>
      </p:sp>
      <p:sp>
        <p:nvSpPr>
          <p:cNvPr id="409" name="Google Shape;409;gcab78c543d_0_186"/>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pic>
        <p:nvPicPr>
          <p:cNvPr id="410" name="Google Shape;410;gcab78c543d_0_186"/>
          <p:cNvPicPr preferRelativeResize="0"/>
          <p:nvPr/>
        </p:nvPicPr>
        <p:blipFill rotWithShape="1">
          <a:blip r:embed="rId3">
            <a:alphaModFix/>
          </a:blip>
          <a:srcRect/>
          <a:stretch/>
        </p:blipFill>
        <p:spPr>
          <a:xfrm>
            <a:off x="152400" y="1349102"/>
            <a:ext cx="8839200" cy="47554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gcab78c543d_0_193"/>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Como o MapReduce funciona no Hadoop?</a:t>
            </a:r>
            <a:endParaRPr/>
          </a:p>
        </p:txBody>
      </p:sp>
      <p:sp>
        <p:nvSpPr>
          <p:cNvPr id="416" name="Google Shape;416;gcab78c543d_0_193"/>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12</a:t>
            </a:fld>
            <a:endParaRPr/>
          </a:p>
        </p:txBody>
      </p:sp>
      <p:pic>
        <p:nvPicPr>
          <p:cNvPr id="417" name="Google Shape;417;gcab78c543d_0_193"/>
          <p:cNvPicPr preferRelativeResize="0"/>
          <p:nvPr/>
        </p:nvPicPr>
        <p:blipFill rotWithShape="1">
          <a:blip r:embed="rId3">
            <a:alphaModFix/>
          </a:blip>
          <a:srcRect/>
          <a:stretch/>
        </p:blipFill>
        <p:spPr>
          <a:xfrm>
            <a:off x="1751375" y="1358325"/>
            <a:ext cx="4905077" cy="4846224"/>
          </a:xfrm>
          <a:prstGeom prst="rect">
            <a:avLst/>
          </a:prstGeom>
          <a:noFill/>
          <a:ln>
            <a:noFill/>
          </a:ln>
        </p:spPr>
      </p:pic>
      <p:sp>
        <p:nvSpPr>
          <p:cNvPr id="418" name="Google Shape;418;gcab78c543d_0_193"/>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gcab78c543d_0_200"/>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Como funciona o HDFS?</a:t>
            </a:r>
            <a:endParaRPr/>
          </a:p>
        </p:txBody>
      </p:sp>
      <p:sp>
        <p:nvSpPr>
          <p:cNvPr id="424" name="Google Shape;424;gcab78c543d_0_200"/>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13</a:t>
            </a:fld>
            <a:endParaRPr/>
          </a:p>
        </p:txBody>
      </p:sp>
      <p:pic>
        <p:nvPicPr>
          <p:cNvPr id="425" name="Google Shape;425;gcab78c543d_0_200"/>
          <p:cNvPicPr preferRelativeResize="0"/>
          <p:nvPr/>
        </p:nvPicPr>
        <p:blipFill rotWithShape="1">
          <a:blip r:embed="rId3">
            <a:alphaModFix/>
          </a:blip>
          <a:srcRect/>
          <a:stretch/>
        </p:blipFill>
        <p:spPr>
          <a:xfrm>
            <a:off x="621650" y="1387974"/>
            <a:ext cx="7900701" cy="4520000"/>
          </a:xfrm>
          <a:prstGeom prst="rect">
            <a:avLst/>
          </a:prstGeom>
          <a:noFill/>
          <a:ln>
            <a:noFill/>
          </a:ln>
        </p:spPr>
      </p:pic>
      <p:sp>
        <p:nvSpPr>
          <p:cNvPr id="426" name="Google Shape;426;gcab78c543d_0_200"/>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gcab78c543d_0_207"/>
          <p:cNvSpPr txBox="1">
            <a:spLocks noGrp="1"/>
          </p:cNvSpPr>
          <p:nvPr>
            <p:ph type="title"/>
          </p:nvPr>
        </p:nvSpPr>
        <p:spPr>
          <a:xfrm>
            <a:off x="467550" y="264002"/>
            <a:ext cx="8219400" cy="9327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3600"/>
              <a:buFont typeface="Calibri"/>
              <a:buNone/>
            </a:pPr>
            <a:r>
              <a:rPr lang="pt-BR"/>
              <a:t>Como funciona a replicação de blocos?</a:t>
            </a:r>
            <a:endParaRPr/>
          </a:p>
        </p:txBody>
      </p:sp>
      <p:sp>
        <p:nvSpPr>
          <p:cNvPr id="432" name="Google Shape;432;gcab78c543d_0_207"/>
          <p:cNvSpPr txBox="1">
            <a:spLocks noGrp="1"/>
          </p:cNvSpPr>
          <p:nvPr>
            <p:ph type="sldNum" idx="12"/>
          </p:nvPr>
        </p:nvSpPr>
        <p:spPr>
          <a:xfrm>
            <a:off x="6997906" y="6564337"/>
            <a:ext cx="2133600" cy="365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pt-BR"/>
              <a:t>14</a:t>
            </a:fld>
            <a:endParaRPr/>
          </a:p>
        </p:txBody>
      </p:sp>
      <p:pic>
        <p:nvPicPr>
          <p:cNvPr id="433" name="Google Shape;433;gcab78c543d_0_207"/>
          <p:cNvPicPr preferRelativeResize="0"/>
          <p:nvPr/>
        </p:nvPicPr>
        <p:blipFill rotWithShape="1">
          <a:blip r:embed="rId3">
            <a:alphaModFix/>
          </a:blip>
          <a:srcRect/>
          <a:stretch/>
        </p:blipFill>
        <p:spPr>
          <a:xfrm>
            <a:off x="904275" y="1315450"/>
            <a:ext cx="7345949" cy="4759849"/>
          </a:xfrm>
          <a:prstGeom prst="rect">
            <a:avLst/>
          </a:prstGeom>
          <a:noFill/>
          <a:ln>
            <a:noFill/>
          </a:ln>
        </p:spPr>
      </p:pic>
      <p:sp>
        <p:nvSpPr>
          <p:cNvPr id="434" name="Google Shape;434;gcab78c543d_0_207"/>
          <p:cNvSpPr txBox="1"/>
          <p:nvPr/>
        </p:nvSpPr>
        <p:spPr>
          <a:xfrm>
            <a:off x="467550" y="6275725"/>
            <a:ext cx="5475300" cy="288600"/>
          </a:xfrm>
          <a:prstGeom prst="rect">
            <a:avLst/>
          </a:prstGeom>
          <a:noFill/>
          <a:ln>
            <a:noFill/>
          </a:ln>
        </p:spPr>
        <p:txBody>
          <a:bodyPr spcFirstLastPara="1" wrap="square" lIns="91425" tIns="91425" rIns="91425" bIns="91425" anchor="t" anchorCtr="0">
            <a:noAutofit/>
          </a:bodyPr>
          <a:lstStyle/>
          <a:p>
            <a:pPr marL="0" marR="215900" lvl="0" indent="0" algn="just" rtl="0">
              <a:lnSpc>
                <a:spcPct val="115000"/>
              </a:lnSpc>
              <a:spcBef>
                <a:spcPts val="0"/>
              </a:spcBef>
              <a:spcAft>
                <a:spcPts val="0"/>
              </a:spcAft>
              <a:buClr>
                <a:srgbClr val="000000"/>
              </a:buClr>
              <a:buSzPts val="1200"/>
              <a:buFont typeface="Arial"/>
              <a:buNone/>
            </a:pPr>
            <a:r>
              <a:rPr lang="pt-BR" sz="1200" b="0" i="0" u="none" strike="noStrike" cap="none">
                <a:solidFill>
                  <a:schemeClr val="dk1"/>
                </a:solidFill>
                <a:latin typeface="Calibri"/>
                <a:ea typeface="Calibri"/>
                <a:cs typeface="Calibri"/>
                <a:sym typeface="Calibri"/>
              </a:rPr>
              <a:t>WHITE, T. </a:t>
            </a:r>
            <a:r>
              <a:rPr lang="pt-BR" sz="1200" b="1" i="0" u="none" strike="noStrike" cap="none">
                <a:solidFill>
                  <a:schemeClr val="dk1"/>
                </a:solidFill>
                <a:latin typeface="Calibri"/>
                <a:ea typeface="Calibri"/>
                <a:cs typeface="Calibri"/>
                <a:sym typeface="Calibri"/>
              </a:rPr>
              <a:t>Hadoop: The Definitive Guide</a:t>
            </a:r>
            <a:r>
              <a:rPr lang="pt-BR" sz="1200" b="0" i="0" u="none" strike="noStrike" cap="none">
                <a:solidFill>
                  <a:schemeClr val="dk1"/>
                </a:solidFill>
                <a:latin typeface="Calibri"/>
                <a:ea typeface="Calibri"/>
                <a:cs typeface="Calibri"/>
                <a:sym typeface="Calibri"/>
              </a:rPr>
              <a:t>, 4</a:t>
            </a:r>
            <a:r>
              <a:rPr lang="pt-BR" sz="1200" b="0" i="0" u="none" strike="noStrike" cap="none" baseline="30000">
                <a:solidFill>
                  <a:schemeClr val="dk1"/>
                </a:solidFill>
                <a:latin typeface="Calibri"/>
                <a:ea typeface="Calibri"/>
                <a:cs typeface="Calibri"/>
                <a:sym typeface="Calibri"/>
              </a:rPr>
              <a:t>th</a:t>
            </a:r>
            <a:r>
              <a:rPr lang="pt-BR" sz="1200" b="0" i="0" u="none" strike="noStrike" cap="none">
                <a:solidFill>
                  <a:schemeClr val="dk1"/>
                </a:solidFill>
                <a:latin typeface="Calibri"/>
                <a:ea typeface="Calibri"/>
                <a:cs typeface="Calibri"/>
                <a:sym typeface="Calibri"/>
              </a:rPr>
              <a:t> Edition, O’Reilly Media, 2015.</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Spark</a:t>
            </a:r>
            <a:endParaRPr lang="es-ES" dirty="0"/>
          </a:p>
        </p:txBody>
      </p:sp>
      <p:sp>
        <p:nvSpPr>
          <p:cNvPr id="4" name="Subtítulo 3"/>
          <p:cNvSpPr>
            <a:spLocks noGrp="1"/>
          </p:cNvSpPr>
          <p:nvPr>
            <p:ph type="body" idx="1"/>
          </p:nvPr>
        </p:nvSpPr>
        <p:spPr/>
        <p:txBody>
          <a:bodyPr>
            <a:normAutofit/>
          </a:bodyPr>
          <a:lstStyle/>
          <a:p>
            <a:pPr marL="342900" lvl="1" indent="-342900" algn="just">
              <a:spcBef>
                <a:spcPts val="300"/>
              </a:spcBef>
              <a:buFont typeface="Arial" panose="020B0604020202020204" pitchFamily="34" charset="0"/>
              <a:buChar char="•"/>
              <a:defRPr/>
            </a:pPr>
            <a:r>
              <a:rPr lang="pt-BR" sz="2200" b="1" dirty="0"/>
              <a:t>Conceitos</a:t>
            </a:r>
          </a:p>
          <a:p>
            <a:pPr marL="342900" lvl="1" indent="-342900" algn="just">
              <a:spcBef>
                <a:spcPts val="300"/>
              </a:spcBef>
              <a:buFont typeface="Arial" panose="020B0604020202020204" pitchFamily="34" charset="0"/>
              <a:buChar char="•"/>
              <a:defRPr/>
            </a:pPr>
            <a:r>
              <a:rPr lang="pt-BR" sz="2200" b="1" dirty="0"/>
              <a:t>Arquitetura</a:t>
            </a:r>
          </a:p>
          <a:p>
            <a:pPr marL="342900" lvl="1" indent="-342900" algn="just">
              <a:spcBef>
                <a:spcPts val="300"/>
              </a:spcBef>
              <a:buFont typeface="Arial" panose="020B0604020202020204" pitchFamily="34" charset="0"/>
              <a:buChar char="•"/>
              <a:defRPr/>
            </a:pPr>
            <a:r>
              <a:rPr lang="pt-BR" sz="2200" b="1" dirty="0"/>
              <a:t>Aplicações</a:t>
            </a:r>
          </a:p>
        </p:txBody>
      </p:sp>
    </p:spTree>
    <p:extLst>
      <p:ext uri="{BB962C8B-B14F-4D97-AF65-F5344CB8AC3E}">
        <p14:creationId xmlns:p14="http://schemas.microsoft.com/office/powerpoint/2010/main" val="700863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err="1"/>
              <a:t>Spark</a:t>
            </a:r>
            <a:endParaRPr lang="es-ES" dirty="0"/>
          </a:p>
        </p:txBody>
      </p:sp>
      <p:pic>
        <p:nvPicPr>
          <p:cNvPr id="2050" name="Picture 2">
            <a:extLst>
              <a:ext uri="{FF2B5EF4-FFF2-40B4-BE49-F238E27FC236}">
                <a16:creationId xmlns:a16="http://schemas.microsoft.com/office/drawing/2014/main" id="{7802E2C0-0A94-A44F-93D4-CEC4B44815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14672"/>
            <a:ext cx="9144000" cy="513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264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Spark</a:t>
            </a:r>
            <a:endParaRPr lang="pt-BR" sz="2200" b="1" dirty="0">
              <a:solidFill>
                <a:schemeClr val="tx1"/>
              </a:solidFill>
            </a:endParaRPr>
          </a:p>
        </p:txBody>
      </p:sp>
      <p:sp>
        <p:nvSpPr>
          <p:cNvPr id="7" name="4 Marcador de texto"/>
          <p:cNvSpPr>
            <a:spLocks noGrp="1"/>
          </p:cNvSpPr>
          <p:nvPr>
            <p:ph type="body" idx="1"/>
          </p:nvPr>
        </p:nvSpPr>
        <p:spPr>
          <a:prstGeom prst="rect">
            <a:avLst/>
          </a:prstGeom>
        </p:spPr>
        <p:txBody>
          <a:bodyPr>
            <a:normAutofit/>
          </a:bodyPr>
          <a:lstStyle/>
          <a:p>
            <a:pPr marL="285750" lvl="1" indent="-285750" algn="just">
              <a:spcBef>
                <a:spcPts val="300"/>
              </a:spcBef>
              <a:buFont typeface="Arial" panose="020B0604020202020204" pitchFamily="34" charset="0"/>
              <a:buChar char="•"/>
              <a:defRPr/>
            </a:pPr>
            <a:r>
              <a:rPr lang="pt-BR" sz="2200" b="1" dirty="0"/>
              <a:t>Processamento Distribuído</a:t>
            </a:r>
          </a:p>
          <a:p>
            <a:pPr marL="571500" lvl="2" indent="-285750" algn="just">
              <a:spcBef>
                <a:spcPts val="300"/>
              </a:spcBef>
              <a:defRPr/>
            </a:pPr>
            <a:r>
              <a:rPr lang="pt-BR" sz="2200" dirty="0"/>
              <a:t>Master/</a:t>
            </a:r>
            <a:r>
              <a:rPr lang="pt-BR" sz="2200" dirty="0" err="1"/>
              <a:t>Slave</a:t>
            </a:r>
            <a:endParaRPr lang="pt-BR" sz="2200" dirty="0"/>
          </a:p>
          <a:p>
            <a:pPr marL="1028700" lvl="3" indent="-285750" algn="just">
              <a:spcBef>
                <a:spcPts val="300"/>
              </a:spcBef>
              <a:defRPr/>
            </a:pPr>
            <a:r>
              <a:rPr lang="pt-BR" sz="2200" dirty="0"/>
              <a:t>Master (Driver)</a:t>
            </a:r>
          </a:p>
          <a:p>
            <a:pPr marL="1028700" lvl="3" indent="-285750" algn="just">
              <a:spcBef>
                <a:spcPts val="300"/>
              </a:spcBef>
              <a:defRPr/>
            </a:pPr>
            <a:r>
              <a:rPr lang="pt-BR" sz="2200" dirty="0" err="1"/>
              <a:t>Slaves</a:t>
            </a:r>
            <a:r>
              <a:rPr lang="pt-BR" sz="2200" dirty="0"/>
              <a:t> (</a:t>
            </a:r>
            <a:r>
              <a:rPr lang="pt-BR" sz="2200" dirty="0" err="1"/>
              <a:t>Workers</a:t>
            </a:r>
            <a:r>
              <a:rPr lang="pt-BR" sz="2200" dirty="0"/>
              <a:t>)</a:t>
            </a:r>
          </a:p>
          <a:p>
            <a:pPr marL="571500" lvl="2" indent="-285750" algn="just">
              <a:spcBef>
                <a:spcPts val="300"/>
              </a:spcBef>
              <a:defRPr/>
            </a:pPr>
            <a:endParaRPr lang="pt-BR" sz="2200" dirty="0"/>
          </a:p>
          <a:p>
            <a:pPr marL="285750" lvl="2" indent="0" algn="just">
              <a:spcBef>
                <a:spcPts val="300"/>
              </a:spcBef>
              <a:buNone/>
              <a:defRPr/>
            </a:pPr>
            <a:endParaRPr lang="pt-BR" sz="2200" dirty="0"/>
          </a:p>
          <a:p>
            <a:pPr marL="285750" lvl="1" indent="-285750" algn="just">
              <a:spcBef>
                <a:spcPts val="300"/>
              </a:spcBef>
              <a:buFont typeface="Arial" panose="020B0604020202020204" pitchFamily="34" charset="0"/>
              <a:buChar char="•"/>
              <a:defRPr/>
            </a:pPr>
            <a:r>
              <a:rPr lang="pt-BR" sz="2200" b="1" dirty="0"/>
              <a:t>Stand </a:t>
            </a:r>
            <a:r>
              <a:rPr lang="pt-BR" sz="2200" b="1" dirty="0" err="1"/>
              <a:t>Alone</a:t>
            </a:r>
            <a:r>
              <a:rPr lang="pt-BR" sz="2200" b="1" dirty="0"/>
              <a:t> / </a:t>
            </a:r>
            <a:r>
              <a:rPr lang="pt-BR" sz="2200" b="1" dirty="0" err="1"/>
              <a:t>Yarn</a:t>
            </a:r>
            <a:endParaRPr lang="pt-BR" sz="2200" b="1" dirty="0"/>
          </a:p>
          <a:p>
            <a:pPr marL="571500" lvl="2" indent="-285750" algn="just">
              <a:spcBef>
                <a:spcPts val="300"/>
              </a:spcBef>
              <a:defRPr/>
            </a:pPr>
            <a:r>
              <a:rPr lang="pt-BR" sz="2200" dirty="0"/>
              <a:t>Pode rodar sozinho</a:t>
            </a:r>
          </a:p>
          <a:p>
            <a:pPr marL="571500" lvl="2" indent="-285750" algn="just">
              <a:spcBef>
                <a:spcPts val="300"/>
              </a:spcBef>
              <a:defRPr/>
            </a:pPr>
            <a:r>
              <a:rPr lang="pt-BR" sz="2200" dirty="0"/>
              <a:t>Poder ser orquestrado via </a:t>
            </a:r>
            <a:r>
              <a:rPr lang="pt-BR" sz="2200" dirty="0" err="1"/>
              <a:t>Yarn</a:t>
            </a:r>
            <a:endParaRPr lang="pt-BR" sz="2200" dirty="0"/>
          </a:p>
          <a:p>
            <a:pPr marL="285750" lvl="1" indent="-285750" algn="just">
              <a:spcBef>
                <a:spcPts val="300"/>
              </a:spcBef>
              <a:buFont typeface="Arial" panose="020B0604020202020204" pitchFamily="34" charset="0"/>
              <a:buChar char="•"/>
              <a:defRPr/>
            </a:pPr>
            <a:endParaRPr lang="pt-BR" sz="2200" b="1" dirty="0"/>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err="1">
                <a:solidFill>
                  <a:srgbClr val="12020D"/>
                </a:solidFill>
              </a:rPr>
              <a:t>Fonte:https</a:t>
            </a:r>
            <a:r>
              <a:rPr lang="pt-BR" sz="1000" dirty="0">
                <a:solidFill>
                  <a:srgbClr val="12020D"/>
                </a:solidFill>
              </a:rPr>
              <a:t>://jaceklaskowski.gitbooks.io/</a:t>
            </a:r>
            <a:r>
              <a:rPr lang="pt-BR" sz="1000" dirty="0" err="1">
                <a:solidFill>
                  <a:srgbClr val="12020D"/>
                </a:solidFill>
              </a:rPr>
              <a:t>mastering</a:t>
            </a:r>
            <a:r>
              <a:rPr lang="pt-BR" sz="1000" dirty="0">
                <a:solidFill>
                  <a:srgbClr val="12020D"/>
                </a:solidFill>
              </a:rPr>
              <a:t>-apache-</a:t>
            </a:r>
            <a:r>
              <a:rPr lang="pt-BR" sz="1000" dirty="0" err="1">
                <a:solidFill>
                  <a:srgbClr val="12020D"/>
                </a:solidFill>
              </a:rPr>
              <a:t>spark</a:t>
            </a:r>
            <a:r>
              <a:rPr lang="pt-BR" sz="1000" dirty="0">
                <a:solidFill>
                  <a:srgbClr val="12020D"/>
                </a:solidFill>
              </a:rPr>
              <a:t>/</a:t>
            </a:r>
            <a:r>
              <a:rPr lang="pt-BR" sz="1000" dirty="0" err="1">
                <a:solidFill>
                  <a:srgbClr val="12020D"/>
                </a:solidFill>
              </a:rPr>
              <a:t>images</a:t>
            </a:r>
            <a:r>
              <a:rPr lang="pt-BR" sz="1000" dirty="0">
                <a:solidFill>
                  <a:srgbClr val="12020D"/>
                </a:solidFill>
              </a:rPr>
              <a:t>/sparkapp-sparkcontext-master-slaves.png</a:t>
            </a:r>
          </a:p>
        </p:txBody>
      </p:sp>
      <p:pic>
        <p:nvPicPr>
          <p:cNvPr id="1028" name="Picture 4" descr="Resultado de imagem para spark archite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1340768"/>
            <a:ext cx="4679328" cy="4440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8810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Spark</a:t>
            </a:r>
            <a:r>
              <a:rPr lang="pt-BR" sz="2200" b="1" dirty="0">
                <a:solidFill>
                  <a:schemeClr val="tx1"/>
                </a:solidFill>
              </a:rPr>
              <a:t> – </a:t>
            </a:r>
            <a:r>
              <a:rPr lang="pt-BR" sz="2200" b="1" dirty="0" err="1">
                <a:solidFill>
                  <a:schemeClr val="tx1"/>
                </a:solidFill>
              </a:rPr>
              <a:t>On</a:t>
            </a:r>
            <a:r>
              <a:rPr lang="pt-BR" sz="2200" b="1" dirty="0">
                <a:solidFill>
                  <a:schemeClr val="tx1"/>
                </a:solidFill>
              </a:rPr>
              <a:t> </a:t>
            </a:r>
            <a:r>
              <a:rPr lang="pt-BR" sz="2200" b="1" dirty="0" err="1">
                <a:solidFill>
                  <a:schemeClr val="tx1"/>
                </a:solidFill>
              </a:rPr>
              <a:t>Yarn</a:t>
            </a:r>
            <a:endParaRPr lang="pt-BR" sz="2200" b="1" dirty="0">
              <a:solidFill>
                <a:schemeClr val="tx1"/>
              </a:solidFill>
            </a:endParaRPr>
          </a:p>
        </p:txBody>
      </p:sp>
      <p:sp>
        <p:nvSpPr>
          <p:cNvPr id="3" name="Espaço Reservado para Texto 2">
            <a:extLst>
              <a:ext uri="{FF2B5EF4-FFF2-40B4-BE49-F238E27FC236}">
                <a16:creationId xmlns:a16="http://schemas.microsoft.com/office/drawing/2014/main" id="{B1C6265F-CAA4-45A7-862B-64F37881146E}"/>
              </a:ext>
            </a:extLst>
          </p:cNvPr>
          <p:cNvSpPr>
            <a:spLocks noGrp="1"/>
          </p:cNvSpPr>
          <p:nvPr>
            <p:ph type="body" idx="1"/>
          </p:nvPr>
        </p:nvSpPr>
        <p:spPr/>
        <p:txBody>
          <a:bodyPr/>
          <a:lstStyle/>
          <a:p>
            <a:endParaRPr lang="pt-BR"/>
          </a:p>
        </p:txBody>
      </p:sp>
      <p:sp>
        <p:nvSpPr>
          <p:cNvPr id="2" name="CaixaDeTexto 1"/>
          <p:cNvSpPr txBox="1"/>
          <p:nvPr/>
        </p:nvSpPr>
        <p:spPr>
          <a:xfrm>
            <a:off x="7770500" y="6587157"/>
            <a:ext cx="1388522" cy="246221"/>
          </a:xfrm>
          <a:prstGeom prst="rect">
            <a:avLst/>
          </a:prstGeom>
          <a:noFill/>
        </p:spPr>
        <p:txBody>
          <a:bodyPr wrap="none" rtlCol="0">
            <a:spAutoFit/>
          </a:bodyPr>
          <a:lstStyle/>
          <a:p>
            <a:r>
              <a:rPr lang="pt-BR" sz="1000" dirty="0">
                <a:solidFill>
                  <a:srgbClr val="12020D"/>
                </a:solidFill>
              </a:rPr>
              <a:t>Fonte: Borges (2010)</a:t>
            </a:r>
          </a:p>
        </p:txBody>
      </p:sp>
      <p:pic>
        <p:nvPicPr>
          <p:cNvPr id="2050" name="Picture 2" descr="https://media.licdn.com/mpr/mpr/AAEAAQAAAAAAAAuFAAAAJDE3ZTdlMzU5LTZhNDEtNDY5Yi1hYTM2LWY4NTRjYjIwYzhkZA.jpg"/>
          <p:cNvPicPr>
            <a:picLocks noChangeAspect="1" noChangeArrowheads="1"/>
          </p:cNvPicPr>
          <p:nvPr/>
        </p:nvPicPr>
        <p:blipFill rotWithShape="1">
          <a:blip r:embed="rId3">
            <a:extLst>
              <a:ext uri="{28A0092B-C50C-407E-A947-70E740481C1C}">
                <a14:useLocalDpi xmlns:a14="http://schemas.microsoft.com/office/drawing/2010/main" val="0"/>
              </a:ext>
            </a:extLst>
          </a:blip>
          <a:srcRect l="2038" r="9966"/>
          <a:stretch/>
        </p:blipFill>
        <p:spPr bwMode="auto">
          <a:xfrm>
            <a:off x="539552" y="1196752"/>
            <a:ext cx="8223274" cy="525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3117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Spark</a:t>
            </a:r>
            <a:r>
              <a:rPr lang="pt-BR" sz="2200" b="1" dirty="0">
                <a:solidFill>
                  <a:schemeClr val="tx1"/>
                </a:solidFill>
              </a:rPr>
              <a:t> - RDD</a:t>
            </a:r>
          </a:p>
        </p:txBody>
      </p:sp>
      <p:sp>
        <p:nvSpPr>
          <p:cNvPr id="7" name="4 Marcador de texto"/>
          <p:cNvSpPr>
            <a:spLocks noGrp="1"/>
          </p:cNvSpPr>
          <p:nvPr>
            <p:ph type="body" idx="1"/>
          </p:nvPr>
        </p:nvSpPr>
        <p:spPr>
          <a:xfrm>
            <a:off x="457200" y="1340768"/>
            <a:ext cx="4581525" cy="4889088"/>
          </a:xfrm>
          <a:prstGeom prst="rect">
            <a:avLst/>
          </a:prstGeom>
        </p:spPr>
        <p:txBody>
          <a:bodyPr>
            <a:normAutofit/>
          </a:bodyPr>
          <a:lstStyle/>
          <a:p>
            <a:pPr marL="285750" lvl="1" indent="-285750" algn="just">
              <a:spcBef>
                <a:spcPts val="300"/>
              </a:spcBef>
              <a:buFont typeface="Arial" panose="020B0604020202020204" pitchFamily="34" charset="0"/>
              <a:buChar char="•"/>
              <a:defRPr/>
            </a:pPr>
            <a:r>
              <a:rPr lang="pt-BR" sz="2200" b="1" dirty="0"/>
              <a:t>RDD</a:t>
            </a:r>
          </a:p>
          <a:p>
            <a:pPr marL="571500" lvl="2" indent="-285750" algn="just">
              <a:spcBef>
                <a:spcPts val="300"/>
              </a:spcBef>
              <a:defRPr/>
            </a:pPr>
            <a:r>
              <a:rPr lang="pt-BR" sz="2400" dirty="0"/>
              <a:t>Um </a:t>
            </a:r>
            <a:r>
              <a:rPr lang="pt-BR" sz="2400" i="1" dirty="0"/>
              <a:t>RDD (</a:t>
            </a:r>
            <a:r>
              <a:rPr lang="pt-BR" sz="2400" i="1" dirty="0" err="1"/>
              <a:t>Resilient</a:t>
            </a:r>
            <a:r>
              <a:rPr lang="pt-BR" sz="2400" i="1" dirty="0"/>
              <a:t> </a:t>
            </a:r>
            <a:r>
              <a:rPr lang="pt-BR" sz="2400" i="1" dirty="0" err="1"/>
              <a:t>Distributed</a:t>
            </a:r>
            <a:r>
              <a:rPr lang="pt-BR" sz="2400" i="1" dirty="0"/>
              <a:t> </a:t>
            </a:r>
            <a:r>
              <a:rPr lang="pt-BR" sz="2400" i="1" dirty="0" err="1"/>
              <a:t>Dataset</a:t>
            </a:r>
            <a:r>
              <a:rPr lang="pt-BR" sz="2400" i="1" dirty="0"/>
              <a:t>)</a:t>
            </a:r>
            <a:r>
              <a:rPr lang="pt-BR" sz="2400" dirty="0"/>
              <a:t> é a primeira abstração fornecida pelo </a:t>
            </a:r>
            <a:r>
              <a:rPr lang="pt-BR" sz="2400" dirty="0" err="1"/>
              <a:t>Spark</a:t>
            </a:r>
            <a:r>
              <a:rPr lang="pt-BR" sz="2400" dirty="0"/>
              <a:t> para a manipulação de dados. É uma representação de um dado distribuído pelos nodos do cluster que pode ser operado em paralelo. </a:t>
            </a:r>
            <a:r>
              <a:rPr lang="pt-BR" sz="2400" dirty="0" err="1"/>
              <a:t>RDDs</a:t>
            </a:r>
            <a:r>
              <a:rPr lang="pt-BR" sz="2400" dirty="0"/>
              <a:t> podem ser criados a partir de arquivos no HDFS ou de coleções</a:t>
            </a:r>
            <a:endParaRPr lang="pt-BR" sz="2200" b="1" dirty="0"/>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http://www.inf.ufpr.br/erlfilho/tutorials/spark/</a:t>
            </a:r>
          </a:p>
        </p:txBody>
      </p:sp>
      <p:pic>
        <p:nvPicPr>
          <p:cNvPr id="3074" name="Picture 2" descr="Resultado de imagem para rdd spa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2550" y="2079442"/>
            <a:ext cx="3731057" cy="36165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688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Spark</a:t>
            </a:r>
            <a:r>
              <a:rPr lang="pt-BR" sz="2200" b="1" dirty="0">
                <a:solidFill>
                  <a:schemeClr val="tx1"/>
                </a:solidFill>
              </a:rPr>
              <a:t> - RDD</a:t>
            </a:r>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https://pt.slideshare.net/sparkInstructor/apache-spark-rdd-101</a:t>
            </a:r>
          </a:p>
        </p:txBody>
      </p:sp>
      <p:pic>
        <p:nvPicPr>
          <p:cNvPr id="5122" name="Picture 2" descr="https://image.slidesharecdn.com/youtubespk-141216130447-conversion-gate02/95/apache-spark-rdd-101-3-638.jpg?cb=1418735466"/>
          <p:cNvPicPr>
            <a:picLocks noChangeAspect="1" noChangeArrowheads="1"/>
          </p:cNvPicPr>
          <p:nvPr/>
        </p:nvPicPr>
        <p:blipFill rotWithShape="1">
          <a:blip r:embed="rId3">
            <a:extLst>
              <a:ext uri="{28A0092B-C50C-407E-A947-70E740481C1C}">
                <a14:useLocalDpi xmlns:a14="http://schemas.microsoft.com/office/drawing/2010/main" val="0"/>
              </a:ext>
            </a:extLst>
          </a:blip>
          <a:srcRect t="21058" r="29980" b="7343"/>
          <a:stretch/>
        </p:blipFill>
        <p:spPr bwMode="auto">
          <a:xfrm>
            <a:off x="1325611" y="1768022"/>
            <a:ext cx="6507800" cy="3744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9254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Spark</a:t>
            </a:r>
            <a:r>
              <a:rPr lang="pt-BR" sz="2200" b="1" dirty="0">
                <a:solidFill>
                  <a:schemeClr val="tx1"/>
                </a:solidFill>
              </a:rPr>
              <a:t> - RDD</a:t>
            </a:r>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a:t>
            </a:r>
            <a:r>
              <a:rPr lang="en-US" sz="1000" dirty="0">
                <a:solidFill>
                  <a:srgbClr val="12020D"/>
                </a:solidFill>
              </a:rPr>
              <a:t>Bill Chambers; </a:t>
            </a:r>
            <a:r>
              <a:rPr lang="en-US" sz="1000" dirty="0" err="1">
                <a:solidFill>
                  <a:srgbClr val="12020D"/>
                </a:solidFill>
              </a:rPr>
              <a:t>Matei</a:t>
            </a:r>
            <a:r>
              <a:rPr lang="en-US" sz="1000" dirty="0">
                <a:solidFill>
                  <a:srgbClr val="12020D"/>
                </a:solidFill>
              </a:rPr>
              <a:t> </a:t>
            </a:r>
            <a:r>
              <a:rPr lang="en-US" sz="1000" dirty="0" err="1">
                <a:solidFill>
                  <a:srgbClr val="12020D"/>
                </a:solidFill>
              </a:rPr>
              <a:t>Zaharia</a:t>
            </a:r>
            <a:r>
              <a:rPr lang="en-US" sz="1000" dirty="0">
                <a:solidFill>
                  <a:srgbClr val="12020D"/>
                </a:solidFill>
              </a:rPr>
              <a:t>: Spark: The Definitive Guide. O'Reilly Media, 2017</a:t>
            </a:r>
            <a:endParaRPr lang="pt-BR" sz="1000" dirty="0">
              <a:solidFill>
                <a:srgbClr val="12020D"/>
              </a:solidFill>
            </a:endParaRPr>
          </a:p>
        </p:txBody>
      </p:sp>
      <p:pic>
        <p:nvPicPr>
          <p:cNvPr id="6146" name="Picture 2" descr="figur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268760"/>
            <a:ext cx="6665184" cy="4417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268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Spark</a:t>
            </a:r>
            <a:r>
              <a:rPr lang="pt-BR" sz="2200" b="1" dirty="0">
                <a:solidFill>
                  <a:schemeClr val="tx1"/>
                </a:solidFill>
              </a:rPr>
              <a:t> - RDD</a:t>
            </a:r>
          </a:p>
        </p:txBody>
      </p:sp>
      <p:sp>
        <p:nvSpPr>
          <p:cNvPr id="7" name="4 Marcador de texto"/>
          <p:cNvSpPr>
            <a:spLocks noGrp="1"/>
          </p:cNvSpPr>
          <p:nvPr>
            <p:ph type="body" idx="1"/>
          </p:nvPr>
        </p:nvSpPr>
        <p:spPr>
          <a:prstGeom prst="rect">
            <a:avLst/>
          </a:prstGeom>
        </p:spPr>
        <p:txBody>
          <a:bodyPr>
            <a:normAutofit/>
          </a:bodyPr>
          <a:lstStyle/>
          <a:p>
            <a:pPr marL="285750" lvl="1" indent="-285750" algn="just">
              <a:spcBef>
                <a:spcPts val="300"/>
              </a:spcBef>
              <a:buFont typeface="Arial" panose="020B0604020202020204" pitchFamily="34" charset="0"/>
              <a:buChar char="•"/>
              <a:defRPr/>
            </a:pPr>
            <a:r>
              <a:rPr lang="pt-BR" sz="2000" b="1" dirty="0"/>
              <a:t>RDD</a:t>
            </a:r>
          </a:p>
          <a:p>
            <a:pPr marL="571500" lvl="2" indent="-285750" algn="just">
              <a:spcBef>
                <a:spcPts val="300"/>
              </a:spcBef>
              <a:defRPr/>
            </a:pPr>
            <a:r>
              <a:rPr lang="pt-BR" sz="2000" dirty="0"/>
              <a:t>Particionados automaticamente em todo cluster</a:t>
            </a:r>
          </a:p>
          <a:p>
            <a:pPr marL="571500" lvl="2" indent="-285750" algn="just">
              <a:spcBef>
                <a:spcPts val="300"/>
              </a:spcBef>
              <a:defRPr/>
            </a:pPr>
            <a:r>
              <a:rPr lang="pt-BR" sz="2000" dirty="0"/>
              <a:t>Podem armazenar qualquer tipo de dado</a:t>
            </a:r>
          </a:p>
          <a:p>
            <a:pPr marL="571500" lvl="2" indent="-285750" algn="just">
              <a:spcBef>
                <a:spcPts val="300"/>
              </a:spcBef>
              <a:defRPr/>
            </a:pPr>
            <a:r>
              <a:rPr lang="pt-BR" sz="2000" dirty="0"/>
              <a:t>Ainda possuem outras características, como o </a:t>
            </a:r>
            <a:r>
              <a:rPr lang="pt-BR" sz="2000" dirty="0" err="1"/>
              <a:t>Pair</a:t>
            </a:r>
            <a:r>
              <a:rPr lang="pt-BR" sz="2000" dirty="0"/>
              <a:t> </a:t>
            </a:r>
            <a:r>
              <a:rPr lang="pt-BR" sz="2000" dirty="0" err="1"/>
              <a:t>RDD’s</a:t>
            </a:r>
            <a:r>
              <a:rPr lang="pt-BR" sz="2000" dirty="0"/>
              <a:t>, que armazenam na forma de chave valor</a:t>
            </a:r>
          </a:p>
          <a:p>
            <a:pPr marL="571500" lvl="2" indent="-285750" algn="just">
              <a:spcBef>
                <a:spcPts val="300"/>
              </a:spcBef>
              <a:defRPr/>
            </a:pPr>
            <a:r>
              <a:rPr lang="pt-BR" sz="2000" dirty="0"/>
              <a:t>Possuem Double </a:t>
            </a:r>
            <a:r>
              <a:rPr lang="pt-BR" sz="2000" dirty="0" err="1"/>
              <a:t>RDD’s</a:t>
            </a:r>
            <a:r>
              <a:rPr lang="pt-BR" sz="2000" dirty="0"/>
              <a:t>, que armazenam dados numéricos</a:t>
            </a:r>
          </a:p>
          <a:p>
            <a:pPr marL="571500" lvl="2" indent="-285750" algn="just">
              <a:spcBef>
                <a:spcPts val="300"/>
              </a:spcBef>
              <a:defRPr/>
            </a:pPr>
            <a:r>
              <a:rPr lang="pt-BR" sz="2000" dirty="0"/>
              <a:t>As operações em RDD são divididas em dois tipos, de transformação e de ação</a:t>
            </a:r>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https://www.ime.usp.br/~gold/cursos/2015/MAC5742/reports/ApacheSpark.pdf</a:t>
            </a:r>
          </a:p>
        </p:txBody>
      </p:sp>
      <p:pic>
        <p:nvPicPr>
          <p:cNvPr id="3" name="Imagem 2"/>
          <p:cNvPicPr>
            <a:picLocks noChangeAspect="1"/>
          </p:cNvPicPr>
          <p:nvPr/>
        </p:nvPicPr>
        <p:blipFill>
          <a:blip r:embed="rId3"/>
          <a:stretch>
            <a:fillRect/>
          </a:stretch>
        </p:blipFill>
        <p:spPr>
          <a:xfrm>
            <a:off x="4885538" y="3946508"/>
            <a:ext cx="3912018" cy="1915650"/>
          </a:xfrm>
          <a:prstGeom prst="rect">
            <a:avLst/>
          </a:prstGeom>
        </p:spPr>
      </p:pic>
    </p:spTree>
    <p:extLst>
      <p:ext uri="{BB962C8B-B14F-4D97-AF65-F5344CB8AC3E}">
        <p14:creationId xmlns:p14="http://schemas.microsoft.com/office/powerpoint/2010/main" val="2258381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Spark</a:t>
            </a:r>
            <a:r>
              <a:rPr lang="pt-BR" sz="2200" b="1" dirty="0">
                <a:solidFill>
                  <a:schemeClr val="tx1"/>
                </a:solidFill>
              </a:rPr>
              <a:t> - RDD</a:t>
            </a:r>
          </a:p>
        </p:txBody>
      </p:sp>
      <p:sp>
        <p:nvSpPr>
          <p:cNvPr id="7" name="4 Marcador de texto"/>
          <p:cNvSpPr>
            <a:spLocks noGrp="1"/>
          </p:cNvSpPr>
          <p:nvPr>
            <p:ph type="body" idx="1"/>
          </p:nvPr>
        </p:nvSpPr>
        <p:spPr>
          <a:xfrm>
            <a:off x="457200" y="1340768"/>
            <a:ext cx="3966098" cy="4889088"/>
          </a:xfrm>
          <a:prstGeom prst="rect">
            <a:avLst/>
          </a:prstGeom>
        </p:spPr>
        <p:txBody>
          <a:bodyPr>
            <a:normAutofit/>
          </a:bodyPr>
          <a:lstStyle/>
          <a:p>
            <a:pPr marL="285750" lvl="1" indent="-285750" algn="just">
              <a:spcBef>
                <a:spcPts val="300"/>
              </a:spcBef>
              <a:buFont typeface="Arial" panose="020B0604020202020204" pitchFamily="34" charset="0"/>
              <a:buChar char="•"/>
              <a:defRPr/>
            </a:pPr>
            <a:r>
              <a:rPr lang="pt-BR" sz="2000" b="1" dirty="0"/>
              <a:t>Operações de Transformação</a:t>
            </a:r>
          </a:p>
          <a:p>
            <a:pPr marL="571500" lvl="2" indent="-285750" algn="just">
              <a:spcBef>
                <a:spcPts val="300"/>
              </a:spcBef>
              <a:defRPr/>
            </a:pPr>
            <a:r>
              <a:rPr lang="pt-BR" sz="2000" dirty="0"/>
              <a:t>operações de transformação retornam um novo (</a:t>
            </a:r>
            <a:r>
              <a:rPr lang="pt-BR" sz="2000" dirty="0" err="1"/>
              <a:t>map</a:t>
            </a:r>
            <a:r>
              <a:rPr lang="pt-BR" sz="2000" dirty="0"/>
              <a:t>, </a:t>
            </a:r>
            <a:r>
              <a:rPr lang="pt-BR" sz="2000" dirty="0" err="1"/>
              <a:t>filter</a:t>
            </a:r>
            <a:r>
              <a:rPr lang="pt-BR" sz="2000" dirty="0"/>
              <a:t>, </a:t>
            </a:r>
            <a:r>
              <a:rPr lang="pt-BR" sz="2000" dirty="0" err="1"/>
              <a:t>mapPartition</a:t>
            </a:r>
            <a:r>
              <a:rPr lang="pt-BR" sz="2000" dirty="0"/>
              <a:t>, </a:t>
            </a:r>
            <a:r>
              <a:rPr lang="pt-BR" sz="2000" dirty="0" err="1"/>
              <a:t>union</a:t>
            </a:r>
            <a:r>
              <a:rPr lang="pt-BR" sz="2000" dirty="0"/>
              <a:t>, coalesce)</a:t>
            </a:r>
          </a:p>
          <a:p>
            <a:pPr marL="571500" lvl="2" indent="-285750" algn="just">
              <a:spcBef>
                <a:spcPts val="300"/>
              </a:spcBef>
              <a:defRPr/>
            </a:pPr>
            <a:endParaRPr lang="pt-BR" sz="2000" dirty="0"/>
          </a:p>
          <a:p>
            <a:pPr marL="571500" lvl="2" indent="-285750" algn="just">
              <a:spcBef>
                <a:spcPts val="300"/>
              </a:spcBef>
              <a:defRPr/>
            </a:pPr>
            <a:endParaRPr lang="pt-BR" sz="2000" dirty="0"/>
          </a:p>
          <a:p>
            <a:pPr marL="285750" lvl="1" indent="-285750" algn="just">
              <a:spcBef>
                <a:spcPts val="300"/>
              </a:spcBef>
              <a:buFont typeface="Arial" panose="020B0604020202020204" pitchFamily="34" charset="0"/>
              <a:buChar char="•"/>
              <a:defRPr/>
            </a:pPr>
            <a:r>
              <a:rPr lang="pt-BR" sz="2000" b="1" dirty="0"/>
              <a:t>Operações de Ação</a:t>
            </a:r>
          </a:p>
          <a:p>
            <a:pPr marL="571500" lvl="2" indent="-285750" algn="just">
              <a:spcBef>
                <a:spcPts val="300"/>
              </a:spcBef>
              <a:defRPr/>
            </a:pPr>
            <a:r>
              <a:rPr lang="pt-BR" sz="2000" dirty="0"/>
              <a:t>operações de ação retornam um resultado para o driver ou escreve na camada de armazenamento (</a:t>
            </a:r>
            <a:r>
              <a:rPr lang="pt-BR" sz="2000" dirty="0" err="1"/>
              <a:t>reduce</a:t>
            </a:r>
            <a:r>
              <a:rPr lang="pt-BR" sz="2000" dirty="0"/>
              <a:t>, </a:t>
            </a:r>
            <a:r>
              <a:rPr lang="pt-BR" sz="2000" dirty="0" err="1"/>
              <a:t>take</a:t>
            </a:r>
            <a:r>
              <a:rPr lang="pt-BR" sz="2000" dirty="0"/>
              <a:t>, </a:t>
            </a:r>
            <a:r>
              <a:rPr lang="pt-BR" sz="2000" dirty="0" err="1"/>
              <a:t>collect</a:t>
            </a:r>
            <a:r>
              <a:rPr lang="pt-BR" sz="2000" dirty="0"/>
              <a:t>, </a:t>
            </a:r>
            <a:endParaRPr lang="pt-BR" sz="2000" b="1" dirty="0"/>
          </a:p>
          <a:p>
            <a:pPr marL="571500" lvl="2" indent="-285750" algn="just">
              <a:spcBef>
                <a:spcPts val="300"/>
              </a:spcBef>
              <a:defRPr/>
            </a:pPr>
            <a:endParaRPr lang="pt-BR" sz="2000" dirty="0"/>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https://www.ime.usp.br/~gold/cursos/2015/MAC5742/reports/ApacheSpark.pdf</a:t>
            </a:r>
          </a:p>
        </p:txBody>
      </p:sp>
      <p:pic>
        <p:nvPicPr>
          <p:cNvPr id="8194" name="Picture 2" descr="Action vs Transforma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77182" y="2216954"/>
            <a:ext cx="3609618" cy="2916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0098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PySpark</a:t>
            </a:r>
            <a:endParaRPr lang="pt-BR" sz="2200" b="1" dirty="0">
              <a:solidFill>
                <a:schemeClr val="tx1"/>
              </a:solidFill>
            </a:endParaRPr>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https://www.ime.usp.br/~gold/cursos/2015/MAC5742/reports/ApacheSpark.pdf</a:t>
            </a:r>
          </a:p>
        </p:txBody>
      </p:sp>
      <p:pic>
        <p:nvPicPr>
          <p:cNvPr id="1026" name="Picture 2" descr="Componentes PySpark">
            <a:extLst>
              <a:ext uri="{FF2B5EF4-FFF2-40B4-BE49-F238E27FC236}">
                <a16:creationId xmlns:a16="http://schemas.microsoft.com/office/drawing/2014/main" id="{72A48FDD-BFE8-E2DD-E90B-D76A9F012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22" y="2344054"/>
            <a:ext cx="9144000" cy="396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385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PySpark</a:t>
            </a:r>
            <a:endParaRPr lang="pt-BR" sz="2200" b="1" dirty="0">
              <a:solidFill>
                <a:schemeClr val="tx1"/>
              </a:solidFill>
            </a:endParaRPr>
          </a:p>
        </p:txBody>
      </p:sp>
      <p:sp>
        <p:nvSpPr>
          <p:cNvPr id="7" name="4 Marcador de texto"/>
          <p:cNvSpPr>
            <a:spLocks noGrp="1"/>
          </p:cNvSpPr>
          <p:nvPr>
            <p:ph type="body" idx="1"/>
          </p:nvPr>
        </p:nvSpPr>
        <p:spPr>
          <a:prstGeom prst="rect">
            <a:avLst/>
          </a:prstGeom>
        </p:spPr>
        <p:txBody>
          <a:bodyPr>
            <a:normAutofit/>
          </a:bodyPr>
          <a:lstStyle/>
          <a:p>
            <a:pPr marL="285750" lvl="1" indent="-285750" algn="just">
              <a:spcBef>
                <a:spcPts val="300"/>
              </a:spcBef>
              <a:buFont typeface="Arial" panose="020B0604020202020204" pitchFamily="34" charset="0"/>
              <a:buChar char="•"/>
              <a:defRPr/>
            </a:pPr>
            <a:r>
              <a:rPr lang="pt-BR" sz="2000" b="1" dirty="0" err="1"/>
              <a:t>Spark</a:t>
            </a:r>
            <a:r>
              <a:rPr lang="pt-BR" sz="2000" b="1" dirty="0"/>
              <a:t> Core</a:t>
            </a:r>
          </a:p>
          <a:p>
            <a:endParaRPr lang="pt-BR" sz="1600" dirty="0">
              <a:solidFill>
                <a:srgbClr val="333333"/>
              </a:solidFill>
              <a:latin typeface="Source Sans Pro" panose="020B0503030403020204" pitchFamily="34" charset="0"/>
            </a:endParaRPr>
          </a:p>
          <a:p>
            <a:r>
              <a:rPr lang="pt-BR" sz="1600" dirty="0">
                <a:solidFill>
                  <a:srgbClr val="333333"/>
                </a:solidFill>
                <a:latin typeface="Source Sans Pro" panose="020B0503030403020204" pitchFamily="34" charset="0"/>
              </a:rPr>
              <a:t>O </a:t>
            </a:r>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 Core é o mecanismo de execução geral subjacente para a plataforma </a:t>
            </a:r>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 sobre o qual todas as outras funcionalidades são construídas. Ele fornece um RDD (</a:t>
            </a:r>
            <a:r>
              <a:rPr lang="pt-BR" sz="1600" dirty="0" err="1">
                <a:solidFill>
                  <a:srgbClr val="333333"/>
                </a:solidFill>
                <a:latin typeface="Source Sans Pro" panose="020B0503030403020204" pitchFamily="34" charset="0"/>
              </a:rPr>
              <a:t>Resilient</a:t>
            </a:r>
            <a:r>
              <a:rPr lang="pt-BR" sz="1600" dirty="0">
                <a:solidFill>
                  <a:srgbClr val="333333"/>
                </a:solidFill>
                <a:latin typeface="Source Sans Pro" panose="020B0503030403020204" pitchFamily="34" charset="0"/>
              </a:rPr>
              <a:t> </a:t>
            </a:r>
            <a:r>
              <a:rPr lang="pt-BR" sz="1600" dirty="0" err="1">
                <a:solidFill>
                  <a:srgbClr val="333333"/>
                </a:solidFill>
                <a:latin typeface="Source Sans Pro" panose="020B0503030403020204" pitchFamily="34" charset="0"/>
              </a:rPr>
              <a:t>Distributed</a:t>
            </a:r>
            <a:r>
              <a:rPr lang="pt-BR" sz="1600" dirty="0">
                <a:solidFill>
                  <a:srgbClr val="333333"/>
                </a:solidFill>
                <a:latin typeface="Source Sans Pro" panose="020B0503030403020204" pitchFamily="34" charset="0"/>
              </a:rPr>
              <a:t> </a:t>
            </a:r>
            <a:r>
              <a:rPr lang="pt-BR" sz="1600" dirty="0" err="1">
                <a:solidFill>
                  <a:srgbClr val="333333"/>
                </a:solidFill>
                <a:latin typeface="Source Sans Pro" panose="020B0503030403020204" pitchFamily="34" charset="0"/>
              </a:rPr>
              <a:t>Dataset</a:t>
            </a:r>
            <a:r>
              <a:rPr lang="pt-BR" sz="1600" dirty="0">
                <a:solidFill>
                  <a:srgbClr val="333333"/>
                </a:solidFill>
                <a:latin typeface="Source Sans Pro" panose="020B0503030403020204" pitchFamily="34" charset="0"/>
              </a:rPr>
              <a:t>) e recursos de computação na memória.</a:t>
            </a:r>
          </a:p>
          <a:p>
            <a:endParaRPr lang="pt-BR" sz="1600" dirty="0">
              <a:solidFill>
                <a:srgbClr val="333333"/>
              </a:solidFill>
              <a:latin typeface="Source Sans Pro" panose="020B0503030403020204" pitchFamily="34" charset="0"/>
            </a:endParaRPr>
          </a:p>
          <a:p>
            <a:endParaRPr lang="pt-BR" sz="1600" dirty="0">
              <a:solidFill>
                <a:srgbClr val="333333"/>
              </a:solidFill>
              <a:latin typeface="Source Sans Pro" panose="020B0503030403020204" pitchFamily="34" charset="0"/>
            </a:endParaRPr>
          </a:p>
          <a:p>
            <a:pPr marL="285750" lvl="1" indent="-285750" algn="just">
              <a:spcBef>
                <a:spcPts val="300"/>
              </a:spcBef>
              <a:buFont typeface="Arial" panose="020B0604020202020204" pitchFamily="34" charset="0"/>
              <a:buChar char="•"/>
              <a:defRPr/>
            </a:pPr>
            <a:r>
              <a:rPr lang="pt-BR" sz="2000" b="1" dirty="0"/>
              <a:t>O que é </a:t>
            </a:r>
            <a:r>
              <a:rPr lang="pt-BR" sz="2000" b="1" dirty="0" err="1"/>
              <a:t>PySpark</a:t>
            </a:r>
            <a:endParaRPr lang="pt-BR" sz="2000" b="1" dirty="0"/>
          </a:p>
          <a:p>
            <a:r>
              <a:rPr lang="pt-BR" sz="1600" dirty="0">
                <a:solidFill>
                  <a:srgbClr val="333333"/>
                </a:solidFill>
                <a:latin typeface="Source Sans Pro" panose="020B0503030403020204" pitchFamily="34" charset="0"/>
              </a:rPr>
              <a:t>A API do pandas no </a:t>
            </a:r>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 permite que você dimensione sua carga de trabalho do pandas. Com este pacote, você pode:</a:t>
            </a:r>
          </a:p>
          <a:p>
            <a:pPr lvl="1"/>
            <a:r>
              <a:rPr lang="pt-BR" sz="1200" dirty="0">
                <a:solidFill>
                  <a:srgbClr val="333333"/>
                </a:solidFill>
                <a:latin typeface="Source Sans Pro" panose="020B0503030403020204" pitchFamily="34" charset="0"/>
              </a:rPr>
              <a:t>Seja imediatamente produtivo com o </a:t>
            </a:r>
            <a:r>
              <a:rPr lang="pt-BR" sz="1200" dirty="0" err="1">
                <a:solidFill>
                  <a:srgbClr val="333333"/>
                </a:solidFill>
                <a:latin typeface="Source Sans Pro" panose="020B0503030403020204" pitchFamily="34" charset="0"/>
              </a:rPr>
              <a:t>Spark</a:t>
            </a:r>
            <a:r>
              <a:rPr lang="pt-BR" sz="1200" dirty="0">
                <a:solidFill>
                  <a:srgbClr val="333333"/>
                </a:solidFill>
                <a:latin typeface="Source Sans Pro" panose="020B0503030403020204" pitchFamily="34" charset="0"/>
              </a:rPr>
              <a:t>, sem curva de aprendizado, se você já estiver familiarizado com os pandas.</a:t>
            </a:r>
          </a:p>
          <a:p>
            <a:pPr lvl="1"/>
            <a:r>
              <a:rPr lang="pt-BR" sz="1200" dirty="0">
                <a:solidFill>
                  <a:srgbClr val="333333"/>
                </a:solidFill>
                <a:latin typeface="Source Sans Pro" panose="020B0503030403020204" pitchFamily="34" charset="0"/>
              </a:rPr>
              <a:t>Tenha uma única base de código que funcione tanto com pandas (testes, conjuntos de dados menores) quanto com </a:t>
            </a:r>
            <a:r>
              <a:rPr lang="pt-BR" sz="1200" dirty="0" err="1">
                <a:solidFill>
                  <a:srgbClr val="333333"/>
                </a:solidFill>
                <a:latin typeface="Source Sans Pro" panose="020B0503030403020204" pitchFamily="34" charset="0"/>
              </a:rPr>
              <a:t>Spark</a:t>
            </a:r>
            <a:r>
              <a:rPr lang="pt-BR" sz="1200" dirty="0">
                <a:solidFill>
                  <a:srgbClr val="333333"/>
                </a:solidFill>
                <a:latin typeface="Source Sans Pro" panose="020B0503030403020204" pitchFamily="34" charset="0"/>
              </a:rPr>
              <a:t> (conjuntos de dados distribuídos).</a:t>
            </a:r>
          </a:p>
          <a:p>
            <a:pPr lvl="1"/>
            <a:r>
              <a:rPr lang="pt-BR" sz="1200" dirty="0">
                <a:solidFill>
                  <a:srgbClr val="333333"/>
                </a:solidFill>
                <a:latin typeface="Source Sans Pro" panose="020B0503030403020204" pitchFamily="34" charset="0"/>
              </a:rPr>
              <a:t>Alterne facilmente para os contextos da API do pandas e da API do </a:t>
            </a:r>
            <a:r>
              <a:rPr lang="pt-BR" sz="1200" dirty="0" err="1">
                <a:solidFill>
                  <a:srgbClr val="333333"/>
                </a:solidFill>
                <a:latin typeface="Source Sans Pro" panose="020B0503030403020204" pitchFamily="34" charset="0"/>
              </a:rPr>
              <a:t>PySpark</a:t>
            </a:r>
            <a:r>
              <a:rPr lang="pt-BR" sz="1200" dirty="0">
                <a:solidFill>
                  <a:srgbClr val="333333"/>
                </a:solidFill>
                <a:latin typeface="Source Sans Pro" panose="020B0503030403020204" pitchFamily="34" charset="0"/>
              </a:rPr>
              <a:t> sem nenhuma sobrecarga</a:t>
            </a:r>
          </a:p>
          <a:p>
            <a:endParaRPr lang="pt-BR" sz="1600" dirty="0">
              <a:solidFill>
                <a:srgbClr val="333333"/>
              </a:solidFill>
              <a:latin typeface="Source Sans Pro" panose="020B0503030403020204" pitchFamily="34" charset="0"/>
            </a:endParaRPr>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https://www.ime.usp.br/~gold/cursos/2015/MAC5742/reports/ApacheSpark.pdf</a:t>
            </a:r>
          </a:p>
        </p:txBody>
      </p:sp>
    </p:spTree>
    <p:extLst>
      <p:ext uri="{BB962C8B-B14F-4D97-AF65-F5344CB8AC3E}">
        <p14:creationId xmlns:p14="http://schemas.microsoft.com/office/powerpoint/2010/main" val="2946702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PySpark</a:t>
            </a:r>
            <a:endParaRPr lang="pt-BR" sz="2200" b="1" dirty="0">
              <a:solidFill>
                <a:schemeClr val="tx1"/>
              </a:solidFill>
            </a:endParaRPr>
          </a:p>
        </p:txBody>
      </p:sp>
      <p:sp>
        <p:nvSpPr>
          <p:cNvPr id="7" name="4 Marcador de texto"/>
          <p:cNvSpPr>
            <a:spLocks noGrp="1"/>
          </p:cNvSpPr>
          <p:nvPr>
            <p:ph type="body" idx="1"/>
          </p:nvPr>
        </p:nvSpPr>
        <p:spPr>
          <a:prstGeom prst="rect">
            <a:avLst/>
          </a:prstGeom>
        </p:spPr>
        <p:txBody>
          <a:bodyPr>
            <a:normAutofit/>
          </a:bodyPr>
          <a:lstStyle/>
          <a:p>
            <a:pPr marL="285750" lvl="2" indent="0" algn="just">
              <a:spcBef>
                <a:spcPts val="300"/>
              </a:spcBef>
              <a:buNone/>
              <a:defRPr/>
            </a:pPr>
            <a:endParaRPr lang="pt-BR" sz="2000" dirty="0"/>
          </a:p>
          <a:p>
            <a:pPr marL="114300" indent="0" algn="l">
              <a:buNone/>
            </a:pPr>
            <a:r>
              <a:rPr lang="pt-BR" sz="2000" b="1" dirty="0" err="1"/>
              <a:t>Spark</a:t>
            </a:r>
            <a:r>
              <a:rPr lang="pt-BR" sz="2000" b="1" dirty="0"/>
              <a:t> SQL e </a:t>
            </a:r>
            <a:r>
              <a:rPr lang="pt-BR" sz="2000" b="1" dirty="0" err="1"/>
              <a:t>DataFrame</a:t>
            </a:r>
            <a:endParaRPr lang="pt-BR" sz="2000" b="1" dirty="0"/>
          </a:p>
          <a:p>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 SQL é um módulo </a:t>
            </a:r>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 para processamento de dados estruturados. Ele fornece uma abstração de programação chamada </a:t>
            </a:r>
            <a:r>
              <a:rPr lang="pt-BR" sz="1600" dirty="0" err="1">
                <a:solidFill>
                  <a:srgbClr val="333333"/>
                </a:solidFill>
                <a:latin typeface="Source Sans Pro" panose="020B0503030403020204" pitchFamily="34" charset="0"/>
              </a:rPr>
              <a:t>DataFrame</a:t>
            </a:r>
            <a:r>
              <a:rPr lang="pt-BR" sz="1600" dirty="0">
                <a:solidFill>
                  <a:srgbClr val="333333"/>
                </a:solidFill>
                <a:latin typeface="Source Sans Pro" panose="020B0503030403020204" pitchFamily="34" charset="0"/>
              </a:rPr>
              <a:t> e também pode atuar como mecanismo de consulta SQL distribuído.</a:t>
            </a:r>
          </a:p>
          <a:p>
            <a:endParaRPr lang="pt-BR" sz="1600" dirty="0">
              <a:solidFill>
                <a:srgbClr val="333333"/>
              </a:solidFill>
              <a:latin typeface="Source Sans Pro" panose="020B0503030403020204" pitchFamily="34" charset="0"/>
            </a:endParaRPr>
          </a:p>
          <a:p>
            <a:endParaRPr lang="pt-BR" sz="1600" dirty="0">
              <a:solidFill>
                <a:srgbClr val="333333"/>
              </a:solidFill>
              <a:latin typeface="Source Sans Pro" panose="020B0503030403020204" pitchFamily="34" charset="0"/>
            </a:endParaRPr>
          </a:p>
          <a:p>
            <a:pPr marL="114300" indent="0">
              <a:buNone/>
            </a:pPr>
            <a:r>
              <a:rPr lang="pt-BR" sz="2000" b="1" dirty="0"/>
              <a:t>Streaming</a:t>
            </a:r>
          </a:p>
          <a:p>
            <a:pPr algn="l"/>
            <a:r>
              <a:rPr lang="pt-BR" sz="1600" dirty="0">
                <a:solidFill>
                  <a:srgbClr val="333333"/>
                </a:solidFill>
                <a:latin typeface="Source Sans Pro" panose="020B0503030403020204" pitchFamily="34" charset="0"/>
              </a:rPr>
              <a:t>Executado em cima do </a:t>
            </a:r>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 o recurso de streaming no Apache </a:t>
            </a:r>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 permite aplicativos interativos e analíticos poderosos em dados históricos e de streaming, enquanto herda as características de facilidade de uso e tolerância a falhas do </a:t>
            </a:r>
            <a:r>
              <a:rPr lang="pt-BR" sz="1600" dirty="0" err="1">
                <a:solidFill>
                  <a:srgbClr val="333333"/>
                </a:solidFill>
                <a:latin typeface="Source Sans Pro" panose="020B0503030403020204" pitchFamily="34" charset="0"/>
              </a:rPr>
              <a:t>Spark</a:t>
            </a:r>
            <a:r>
              <a:rPr lang="pt-BR" sz="1600" dirty="0">
                <a:solidFill>
                  <a:srgbClr val="333333"/>
                </a:solidFill>
                <a:latin typeface="Source Sans Pro" panose="020B0503030403020204" pitchFamily="34" charset="0"/>
              </a:rPr>
              <a:t>.</a:t>
            </a:r>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https://www.ime.usp.br/~gold/cursos/2015/MAC5742/reports/ApacheSpark.pdf</a:t>
            </a:r>
          </a:p>
        </p:txBody>
      </p:sp>
    </p:spTree>
    <p:extLst>
      <p:ext uri="{BB962C8B-B14F-4D97-AF65-F5344CB8AC3E}">
        <p14:creationId xmlns:p14="http://schemas.microsoft.com/office/powerpoint/2010/main" val="2021449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Título"/>
          <p:cNvSpPr>
            <a:spLocks noGrp="1"/>
          </p:cNvSpPr>
          <p:nvPr>
            <p:ph type="title"/>
          </p:nvPr>
        </p:nvSpPr>
        <p:spPr/>
        <p:txBody>
          <a:bodyPr>
            <a:normAutofit/>
          </a:bodyPr>
          <a:lstStyle/>
          <a:p>
            <a:pPr marL="285750" lvl="1" indent="-285750">
              <a:spcBef>
                <a:spcPts val="300"/>
              </a:spcBef>
              <a:defRPr/>
            </a:pPr>
            <a:r>
              <a:rPr lang="pt-BR" sz="2200" b="1" dirty="0" err="1">
                <a:solidFill>
                  <a:schemeClr val="tx1"/>
                </a:solidFill>
              </a:rPr>
              <a:t>PySpark</a:t>
            </a:r>
            <a:endParaRPr lang="pt-BR" sz="2200" b="1" dirty="0">
              <a:solidFill>
                <a:schemeClr val="tx1"/>
              </a:solidFill>
            </a:endParaRPr>
          </a:p>
        </p:txBody>
      </p:sp>
      <p:sp>
        <p:nvSpPr>
          <p:cNvPr id="7" name="4 Marcador de texto"/>
          <p:cNvSpPr>
            <a:spLocks noGrp="1"/>
          </p:cNvSpPr>
          <p:nvPr>
            <p:ph type="body" idx="1"/>
          </p:nvPr>
        </p:nvSpPr>
        <p:spPr>
          <a:prstGeom prst="rect">
            <a:avLst/>
          </a:prstGeom>
        </p:spPr>
        <p:txBody>
          <a:bodyPr>
            <a:normAutofit/>
          </a:bodyPr>
          <a:lstStyle/>
          <a:p>
            <a:pPr marL="285750" lvl="1" indent="-285750" algn="just">
              <a:spcBef>
                <a:spcPts val="300"/>
              </a:spcBef>
              <a:buFont typeface="Arial" panose="020B0604020202020204" pitchFamily="34" charset="0"/>
              <a:buChar char="•"/>
              <a:defRPr/>
            </a:pPr>
            <a:r>
              <a:rPr lang="pt-BR" sz="2000" b="1" dirty="0"/>
              <a:t>Pandas sobre </a:t>
            </a:r>
            <a:r>
              <a:rPr lang="pt-BR" sz="2000" b="1" dirty="0" err="1"/>
              <a:t>Spark</a:t>
            </a:r>
            <a:endParaRPr lang="pt-BR" sz="2000" b="1" dirty="0"/>
          </a:p>
          <a:p>
            <a:pPr marL="571500" lvl="2" indent="-285750" algn="just">
              <a:spcBef>
                <a:spcPts val="300"/>
              </a:spcBef>
              <a:defRPr/>
            </a:pPr>
            <a:r>
              <a:rPr lang="pt-BR" sz="1600" b="0" i="0" dirty="0" err="1">
                <a:solidFill>
                  <a:srgbClr val="333333"/>
                </a:solidFill>
                <a:effectLst/>
                <a:latin typeface="Source Sans Pro" panose="020B0503030403020204" pitchFamily="34" charset="0"/>
              </a:rPr>
              <a:t>PySpark</a:t>
            </a:r>
            <a:r>
              <a:rPr lang="pt-BR" sz="1600" b="0" i="0" dirty="0">
                <a:solidFill>
                  <a:srgbClr val="333333"/>
                </a:solidFill>
                <a:effectLst/>
                <a:latin typeface="Source Sans Pro" panose="020B0503030403020204" pitchFamily="34" charset="0"/>
              </a:rPr>
              <a:t> é uma interface para Apache </a:t>
            </a:r>
            <a:r>
              <a:rPr lang="pt-BR" sz="1600" b="0" i="0" dirty="0" err="1">
                <a:solidFill>
                  <a:srgbClr val="333333"/>
                </a:solidFill>
                <a:effectLst/>
                <a:latin typeface="Source Sans Pro" panose="020B0503030403020204" pitchFamily="34" charset="0"/>
              </a:rPr>
              <a:t>Spark</a:t>
            </a:r>
            <a:r>
              <a:rPr lang="pt-BR" sz="1600" b="0" i="0" dirty="0">
                <a:solidFill>
                  <a:srgbClr val="333333"/>
                </a:solidFill>
                <a:effectLst/>
                <a:latin typeface="Source Sans Pro" panose="020B0503030403020204" pitchFamily="34" charset="0"/>
              </a:rPr>
              <a:t> em Python. Ele não apenas permite que você escreva aplicativos </a:t>
            </a:r>
            <a:r>
              <a:rPr lang="pt-BR" sz="1600" b="0" i="0" dirty="0" err="1">
                <a:solidFill>
                  <a:srgbClr val="333333"/>
                </a:solidFill>
                <a:effectLst/>
                <a:latin typeface="Source Sans Pro" panose="020B0503030403020204" pitchFamily="34" charset="0"/>
              </a:rPr>
              <a:t>Spark</a:t>
            </a:r>
            <a:r>
              <a:rPr lang="pt-BR" sz="1600" b="0" i="0" dirty="0">
                <a:solidFill>
                  <a:srgbClr val="333333"/>
                </a:solidFill>
                <a:effectLst/>
                <a:latin typeface="Source Sans Pro" panose="020B0503030403020204" pitchFamily="34" charset="0"/>
              </a:rPr>
              <a:t> usando APIs Python, mas também fornece o </a:t>
            </a:r>
            <a:r>
              <a:rPr lang="pt-BR" sz="1600" b="0" i="0" dirty="0" err="1">
                <a:solidFill>
                  <a:srgbClr val="333333"/>
                </a:solidFill>
                <a:effectLst/>
                <a:latin typeface="Source Sans Pro" panose="020B0503030403020204" pitchFamily="34" charset="0"/>
              </a:rPr>
              <a:t>shell</a:t>
            </a:r>
            <a:r>
              <a:rPr lang="pt-BR" sz="1600" b="0" i="0" dirty="0">
                <a:solidFill>
                  <a:srgbClr val="333333"/>
                </a:solidFill>
                <a:effectLst/>
                <a:latin typeface="Source Sans Pro" panose="020B0503030403020204" pitchFamily="34" charset="0"/>
              </a:rPr>
              <a:t> </a:t>
            </a:r>
            <a:r>
              <a:rPr lang="pt-BR" sz="1600" b="0" i="0" dirty="0" err="1">
                <a:solidFill>
                  <a:srgbClr val="333333"/>
                </a:solidFill>
                <a:effectLst/>
                <a:latin typeface="Source Sans Pro" panose="020B0503030403020204" pitchFamily="34" charset="0"/>
              </a:rPr>
              <a:t>PySpark</a:t>
            </a:r>
            <a:r>
              <a:rPr lang="pt-BR" sz="1600" b="0" i="0" dirty="0">
                <a:solidFill>
                  <a:srgbClr val="333333"/>
                </a:solidFill>
                <a:effectLst/>
                <a:latin typeface="Source Sans Pro" panose="020B0503030403020204" pitchFamily="34" charset="0"/>
              </a:rPr>
              <a:t> para analisar interativamente seus dados em um ambiente distribuído. O </a:t>
            </a:r>
            <a:r>
              <a:rPr lang="pt-BR" sz="1600" b="0" i="0" dirty="0" err="1">
                <a:solidFill>
                  <a:srgbClr val="333333"/>
                </a:solidFill>
                <a:effectLst/>
                <a:latin typeface="Source Sans Pro" panose="020B0503030403020204" pitchFamily="34" charset="0"/>
              </a:rPr>
              <a:t>PySpark</a:t>
            </a:r>
            <a:r>
              <a:rPr lang="pt-BR" sz="1600" b="0" i="0" dirty="0">
                <a:solidFill>
                  <a:srgbClr val="333333"/>
                </a:solidFill>
                <a:effectLst/>
                <a:latin typeface="Source Sans Pro" panose="020B0503030403020204" pitchFamily="34" charset="0"/>
              </a:rPr>
              <a:t> suporta a maioria dos recursos do </a:t>
            </a:r>
            <a:r>
              <a:rPr lang="pt-BR" sz="1600" b="0" i="0" dirty="0" err="1">
                <a:solidFill>
                  <a:srgbClr val="333333"/>
                </a:solidFill>
                <a:effectLst/>
                <a:latin typeface="Source Sans Pro" panose="020B0503030403020204" pitchFamily="34" charset="0"/>
              </a:rPr>
              <a:t>Spark</a:t>
            </a:r>
            <a:r>
              <a:rPr lang="pt-BR" sz="1600" b="0" i="0" dirty="0">
                <a:solidFill>
                  <a:srgbClr val="333333"/>
                </a:solidFill>
                <a:effectLst/>
                <a:latin typeface="Source Sans Pro" panose="020B0503030403020204" pitchFamily="34" charset="0"/>
              </a:rPr>
              <a:t>, como </a:t>
            </a:r>
            <a:r>
              <a:rPr lang="pt-BR" sz="1600" b="0" i="0" dirty="0" err="1">
                <a:solidFill>
                  <a:srgbClr val="333333"/>
                </a:solidFill>
                <a:effectLst/>
                <a:latin typeface="Source Sans Pro" panose="020B0503030403020204" pitchFamily="34" charset="0"/>
              </a:rPr>
              <a:t>Spark</a:t>
            </a:r>
            <a:r>
              <a:rPr lang="pt-BR" sz="1600" b="0" i="0" dirty="0">
                <a:solidFill>
                  <a:srgbClr val="333333"/>
                </a:solidFill>
                <a:effectLst/>
                <a:latin typeface="Source Sans Pro" panose="020B0503030403020204" pitchFamily="34" charset="0"/>
              </a:rPr>
              <a:t> SQL, </a:t>
            </a:r>
            <a:r>
              <a:rPr lang="pt-BR" sz="1600" b="0" i="0" dirty="0" err="1">
                <a:solidFill>
                  <a:srgbClr val="333333"/>
                </a:solidFill>
                <a:effectLst/>
                <a:latin typeface="Source Sans Pro" panose="020B0503030403020204" pitchFamily="34" charset="0"/>
              </a:rPr>
              <a:t>DataFrame</a:t>
            </a:r>
            <a:r>
              <a:rPr lang="pt-BR" sz="1600" b="0" i="0" dirty="0">
                <a:solidFill>
                  <a:srgbClr val="333333"/>
                </a:solidFill>
                <a:effectLst/>
                <a:latin typeface="Source Sans Pro" panose="020B0503030403020204" pitchFamily="34" charset="0"/>
              </a:rPr>
              <a:t>, Streaming, </a:t>
            </a:r>
            <a:r>
              <a:rPr lang="pt-BR" sz="1600" b="0" i="0" dirty="0" err="1">
                <a:solidFill>
                  <a:srgbClr val="333333"/>
                </a:solidFill>
                <a:effectLst/>
                <a:latin typeface="Source Sans Pro" panose="020B0503030403020204" pitchFamily="34" charset="0"/>
              </a:rPr>
              <a:t>MLlib</a:t>
            </a:r>
            <a:r>
              <a:rPr lang="pt-BR" sz="1600" b="0" i="0" dirty="0">
                <a:solidFill>
                  <a:srgbClr val="333333"/>
                </a:solidFill>
                <a:effectLst/>
                <a:latin typeface="Source Sans Pro" panose="020B0503030403020204" pitchFamily="34" charset="0"/>
              </a:rPr>
              <a:t> (</a:t>
            </a:r>
            <a:r>
              <a:rPr lang="pt-BR" sz="1600" b="0" i="0" dirty="0" err="1">
                <a:solidFill>
                  <a:srgbClr val="333333"/>
                </a:solidFill>
                <a:effectLst/>
                <a:latin typeface="Source Sans Pro" panose="020B0503030403020204" pitchFamily="34" charset="0"/>
              </a:rPr>
              <a:t>Machine</a:t>
            </a:r>
            <a:r>
              <a:rPr lang="pt-BR" sz="1600" b="0" i="0" dirty="0">
                <a:solidFill>
                  <a:srgbClr val="333333"/>
                </a:solidFill>
                <a:effectLst/>
                <a:latin typeface="Source Sans Pro" panose="020B0503030403020204" pitchFamily="34" charset="0"/>
              </a:rPr>
              <a:t> Learning) e </a:t>
            </a:r>
            <a:r>
              <a:rPr lang="pt-BR" sz="1600" b="0" i="0" dirty="0" err="1">
                <a:solidFill>
                  <a:srgbClr val="333333"/>
                </a:solidFill>
                <a:effectLst/>
                <a:latin typeface="Source Sans Pro" panose="020B0503030403020204" pitchFamily="34" charset="0"/>
              </a:rPr>
              <a:t>Spark</a:t>
            </a:r>
            <a:r>
              <a:rPr lang="pt-BR" sz="1600" b="0" i="0" dirty="0">
                <a:solidFill>
                  <a:srgbClr val="333333"/>
                </a:solidFill>
                <a:effectLst/>
                <a:latin typeface="Source Sans Pro" panose="020B0503030403020204" pitchFamily="34" charset="0"/>
              </a:rPr>
              <a:t> Core.</a:t>
            </a:r>
            <a:endParaRPr lang="pt-BR" sz="2000" dirty="0"/>
          </a:p>
          <a:p>
            <a:endParaRPr lang="pt-BR" sz="1600" dirty="0">
              <a:solidFill>
                <a:srgbClr val="333333"/>
              </a:solidFill>
              <a:latin typeface="Source Sans Pro" panose="020B0503030403020204" pitchFamily="34" charset="0"/>
            </a:endParaRPr>
          </a:p>
          <a:p>
            <a:endParaRPr lang="pt-BR" sz="1600" dirty="0">
              <a:solidFill>
                <a:srgbClr val="333333"/>
              </a:solidFill>
              <a:latin typeface="Source Sans Pro" panose="020B0503030403020204" pitchFamily="34" charset="0"/>
            </a:endParaRPr>
          </a:p>
        </p:txBody>
      </p:sp>
      <p:sp>
        <p:nvSpPr>
          <p:cNvPr id="2" name="CaixaDeTexto 1"/>
          <p:cNvSpPr txBox="1"/>
          <p:nvPr/>
        </p:nvSpPr>
        <p:spPr>
          <a:xfrm>
            <a:off x="0" y="6587157"/>
            <a:ext cx="9159022" cy="246221"/>
          </a:xfrm>
          <a:prstGeom prst="rect">
            <a:avLst/>
          </a:prstGeom>
          <a:noFill/>
        </p:spPr>
        <p:txBody>
          <a:bodyPr wrap="square" rtlCol="0">
            <a:spAutoFit/>
          </a:bodyPr>
          <a:lstStyle/>
          <a:p>
            <a:pPr algn="r"/>
            <a:r>
              <a:rPr lang="pt-BR" sz="1000" dirty="0">
                <a:solidFill>
                  <a:srgbClr val="12020D"/>
                </a:solidFill>
              </a:rPr>
              <a:t>Fonte: https://www.ime.usp.br/~gold/cursos/2015/MAC5742/reports/ApacheSpark.pdf</a:t>
            </a:r>
          </a:p>
        </p:txBody>
      </p:sp>
    </p:spTree>
    <p:extLst>
      <p:ext uri="{BB962C8B-B14F-4D97-AF65-F5344CB8AC3E}">
        <p14:creationId xmlns:p14="http://schemas.microsoft.com/office/powerpoint/2010/main" val="886856010"/>
      </p:ext>
    </p:extLst>
  </p:cSld>
  <p:clrMapOvr>
    <a:masterClrMapping/>
  </p:clrMapOvr>
</p:sld>
</file>

<file path=ppt/theme/theme1.xml><?xml version="1.0" encoding="utf-8"?>
<a:theme xmlns:a="http://schemas.openxmlformats.org/drawingml/2006/main"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441</TotalTime>
  <Words>1165</Words>
  <Application>Microsoft Macintosh PowerPoint</Application>
  <PresentationFormat>Apresentação na tela (4:3)</PresentationFormat>
  <Paragraphs>149</Paragraphs>
  <Slides>27</Slides>
  <Notes>27</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27</vt:i4>
      </vt:variant>
    </vt:vector>
  </HeadingPairs>
  <TitlesOfParts>
    <vt:vector size="31" baseType="lpstr">
      <vt:lpstr>Arial</vt:lpstr>
      <vt:lpstr>Calibri</vt:lpstr>
      <vt:lpstr>Source Sans Pro</vt:lpstr>
      <vt:lpstr>Tema do Office</vt:lpstr>
      <vt:lpstr>Spark for Data Engineer Aula 1 - Apresentação da Disciplina e Introdução</vt:lpstr>
      <vt:lpstr>Processamento Paralelo</vt:lpstr>
      <vt:lpstr>MPPs ( Massively Parallel Processors )</vt:lpstr>
      <vt:lpstr>Hadoop, por onde começar?</vt:lpstr>
      <vt:lpstr>O que o Hadoop?</vt:lpstr>
      <vt:lpstr>O Ecossistema Hadoop ( Meet Hadoop )</vt:lpstr>
      <vt:lpstr>O que é o MapReduce?</vt:lpstr>
      <vt:lpstr>O que é o MapReduce?</vt:lpstr>
      <vt:lpstr>O que é o MapReduce?</vt:lpstr>
      <vt:lpstr>O que é o MapReduce?</vt:lpstr>
      <vt:lpstr>O que é o MapReduce?</vt:lpstr>
      <vt:lpstr>Como o MapReduce funciona no Hadoop?</vt:lpstr>
      <vt:lpstr>Como funciona o HDFS?</vt:lpstr>
      <vt:lpstr>Como funciona a replicação de blocos?</vt:lpstr>
      <vt:lpstr>Spark</vt:lpstr>
      <vt:lpstr>Spark</vt:lpstr>
      <vt:lpstr>Spark</vt:lpstr>
      <vt:lpstr>Spark – On Yarn</vt:lpstr>
      <vt:lpstr>Spark - RDD</vt:lpstr>
      <vt:lpstr>Spark - RDD</vt:lpstr>
      <vt:lpstr>Spark - RDD</vt:lpstr>
      <vt:lpstr>Spark - RDD</vt:lpstr>
      <vt:lpstr>Spark - RDD</vt:lpstr>
      <vt:lpstr>PySpark</vt:lpstr>
      <vt:lpstr>PySpark</vt:lpstr>
      <vt:lpstr>PySpark</vt:lpstr>
      <vt:lpstr>PySpark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&amp; Business Analytics Aula 1 - Apresentação da Disciplina e Introdução</dc:title>
  <cp:lastModifiedBy>Leandro Mendes Ferreira</cp:lastModifiedBy>
  <cp:revision>4</cp:revision>
  <dcterms:modified xsi:type="dcterms:W3CDTF">2026-05-28T22:39:17Z</dcterms:modified>
</cp:coreProperties>
</file>